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2" r:id="rId6"/>
    <p:sldId id="301" r:id="rId7"/>
    <p:sldId id="302" r:id="rId8"/>
    <p:sldId id="304" r:id="rId9"/>
    <p:sldId id="865" r:id="rId10"/>
    <p:sldId id="858" r:id="rId11"/>
    <p:sldId id="868" r:id="rId12"/>
    <p:sldId id="306" r:id="rId13"/>
    <p:sldId id="861" r:id="rId14"/>
    <p:sldId id="260" r:id="rId15"/>
    <p:sldId id="267" r:id="rId16"/>
    <p:sldId id="317" r:id="rId17"/>
    <p:sldId id="867" r:id="rId18"/>
    <p:sldId id="862" r:id="rId19"/>
    <p:sldId id="8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4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691450"/>
    <a:srgbClr val="942093"/>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2" autoAdjust="0"/>
    <p:restoredTop sz="95039" autoAdjust="0"/>
  </p:normalViewPr>
  <p:slideViewPr>
    <p:cSldViewPr snapToGrid="0" showGuides="1">
      <p:cViewPr varScale="1">
        <p:scale>
          <a:sx n="82" d="100"/>
          <a:sy n="82" d="100"/>
        </p:scale>
        <p:origin x="701" y="77"/>
      </p:cViewPr>
      <p:guideLst>
        <p:guide orient="horz" pos="2228"/>
        <p:guide pos="34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F4DF4-0195-D44C-96C4-BD862AF360A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98406-194B-D342-8609-3215B06AB22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98406-194B-D342-8609-3215B06AB22E}"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98406-194B-D342-8609-3215B06AB22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6B3788-8E71-454D-BEBB-C8AD91CB4C3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98406-194B-D342-8609-3215B06AB22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FE3190BE-3770-7749-B933-E635DFD518FC}" type="datetime1">
              <a:rPr lang="en-IN" smtClean="0"/>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A7C6809D-0EEB-1749-A0D6-8C7CA51030DC}" type="datetime1">
              <a:rPr lang="en-IN"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Oval 6"/>
          <p:cNvSpPr/>
          <p:nvPr userDrawn="1"/>
        </p:nvSpPr>
        <p:spPr>
          <a:xfrm>
            <a:off x="11710866" y="6388100"/>
            <a:ext cx="422030" cy="417634"/>
          </a:xfrm>
          <a:prstGeom prst="ellipse">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p:cNvSpPr>
            <a:spLocks noGrp="1"/>
          </p:cNvSpPr>
          <p:nvPr>
            <p:ph type="sldNum" sz="quarter" idx="12"/>
          </p:nvPr>
        </p:nvSpPr>
        <p:spPr>
          <a:xfrm>
            <a:off x="11684000" y="6407150"/>
            <a:ext cx="480646" cy="365125"/>
          </a:xfrm>
        </p:spPr>
        <p:txBody>
          <a:bodyPr/>
          <a:lstStyle>
            <a:lvl1pPr algn="ctr">
              <a:defRPr sz="1800" b="1">
                <a:solidFill>
                  <a:schemeClr val="bg1"/>
                </a:solidFill>
              </a:defRPr>
            </a:lvl1pPr>
          </a:lstStyle>
          <a:p>
            <a:fld id="{424766C8-FE37-C242-AED9-A550D3C7D878}"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129E1A18-DB2E-4340-A8A3-F43A40F63AFA}" type="datetime1">
              <a:rPr lang="en-I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Oval 7"/>
          <p:cNvSpPr/>
          <p:nvPr userDrawn="1"/>
        </p:nvSpPr>
        <p:spPr>
          <a:xfrm>
            <a:off x="11668123" y="6405562"/>
            <a:ext cx="371475" cy="365125"/>
          </a:xfrm>
          <a:prstGeom prst="ellipse">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7BADA4AD-5BD9-1A41-9BCD-06FEC1A78D4A}" type="datetime1">
              <a:rPr lang="en-I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515724" y="6405562"/>
            <a:ext cx="676275" cy="365125"/>
          </a:xfrm>
        </p:spPr>
        <p:txBody>
          <a:bodyPr/>
          <a:lstStyle>
            <a:lvl1pPr algn="ctr">
              <a:defRPr sz="1500" b="1">
                <a:solidFill>
                  <a:schemeClr val="bg1"/>
                </a:solidFill>
              </a:defRPr>
            </a:lvl1pPr>
          </a:lstStyle>
          <a:p>
            <a:fld id="{424766C8-FE37-C242-AED9-A550D3C7D878}"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F4D6A687-F0E8-4848-A600-D891EA72462B}" type="datetime1">
              <a:rPr lang="en-I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EDD0A0F-1063-9547-BEEB-6D9DEF241FA2}" type="datetime1">
              <a:rPr lang="en-I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B39126-2844-2B4D-8BE8-C2D3B87CE1FF}" type="datetime1">
              <a:rPr lang="en-I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9CB4E208-90B2-D44B-9C9F-BD7B1BE91AA7}" type="datetime1">
              <a:rPr lang="en-I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65312664-DB3F-9245-BAB2-8275C04C3794}" type="datetime1">
              <a:rPr lang="en-I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3DC01BA3-39C9-E645-97E5-D8540B7264E3}" type="datetime1">
              <a:rPr lang="en-I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E09B4B17-415B-274D-A45B-51F223E841D3}" type="datetime1">
              <a:rPr lang="en-I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766C8-FE37-C242-AED9-A550D3C7D87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115518" y="6460403"/>
            <a:ext cx="4114800" cy="365125"/>
          </a:xfr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a:xfrm>
            <a:off x="164892" y="6460403"/>
            <a:ext cx="620843" cy="365125"/>
          </a:xfrm>
        </p:spPr>
        <p:txBody>
          <a:bodyPr/>
          <a:lstStyle>
            <a:lvl1pPr>
              <a:defRPr sz="1800" b="1">
                <a:solidFill>
                  <a:schemeClr val="tx1"/>
                </a:solidFill>
              </a:defRPr>
            </a:lvl1pPr>
          </a:lstStyle>
          <a:p>
            <a:fld id="{8FBEC28E-4BEC-434E-A174-17C0E8C4B2B2}" type="slidenum">
              <a:rPr lang="en-US" smtClean="0"/>
            </a:fld>
            <a:endParaRPr lang="en-US" dirty="0"/>
          </a:p>
        </p:txBody>
      </p:sp>
      <p:cxnSp>
        <p:nvCxnSpPr>
          <p:cNvPr id="9" name="Straight Connector 8"/>
          <p:cNvCxnSpPr/>
          <p:nvPr userDrawn="1"/>
        </p:nvCxnSpPr>
        <p:spPr>
          <a:xfrm>
            <a:off x="0" y="705170"/>
            <a:ext cx="12192000" cy="0"/>
          </a:xfrm>
          <a:prstGeom prst="line">
            <a:avLst/>
          </a:prstGeom>
          <a:ln w="76200">
            <a:solidFill>
              <a:srgbClr val="94165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0" y="6382252"/>
            <a:ext cx="12147030" cy="0"/>
          </a:xfrm>
          <a:prstGeom prst="line">
            <a:avLst/>
          </a:prstGeom>
          <a:ln w="19050">
            <a:solidFill>
              <a:srgbClr val="94165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6D9E38-8790-1C40-85CE-B1CAF3FEEF50}"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766C8-FE37-C242-AED9-A550D3C7D8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jpe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12192000" cy="1845303"/>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800"/>
              </a:spcAft>
            </a:pPr>
            <a:r>
              <a:rPr lang="en-US" altLang="en-US" sz="3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Build Machine Learning Model for Predicting Mechanical Properties of FeAg3 Alloy using Molecular Dynamics</a:t>
            </a:r>
            <a:endParaRPr lang="en-US" altLang="en-US" sz="3200" b="1"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nitw brand log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86275" y="4799652"/>
            <a:ext cx="6677025" cy="1085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894963" y="2326505"/>
            <a:ext cx="6036310" cy="1198880"/>
          </a:xfrm>
          <a:prstGeom prst="rect">
            <a:avLst/>
          </a:prstGeom>
          <a:noFill/>
        </p:spPr>
        <p:txBody>
          <a:bodyPr wrap="none" rtlCol="0">
            <a:spAutoFit/>
          </a:bodyPr>
          <a:lstStyle/>
          <a:p>
            <a:pPr algn="ctr"/>
            <a:r>
              <a:rPr lang="en-IN" sz="2400" b="1" dirty="0"/>
              <a:t>M.Arun(22CSB0C28)</a:t>
            </a:r>
            <a:endParaRPr lang="en-IN" sz="2400" b="1" dirty="0"/>
          </a:p>
          <a:p>
            <a:pPr algn="ctr"/>
            <a:r>
              <a:rPr lang="en-IN" sz="2400" b="1" dirty="0"/>
              <a:t>N.Shivakumar(22CSB0C26)</a:t>
            </a:r>
            <a:endParaRPr lang="en-IN" sz="2400" b="1" dirty="0"/>
          </a:p>
          <a:p>
            <a:pPr algn="ctr"/>
            <a:r>
              <a:rPr lang="en-IN" sz="2400" b="1" dirty="0"/>
              <a:t>Department  of Computer Science Engineering</a:t>
            </a:r>
            <a:endParaRPr lang="en-IN" sz="2400" b="1" dirty="0"/>
          </a:p>
        </p:txBody>
      </p:sp>
      <p:sp>
        <p:nvSpPr>
          <p:cNvPr id="2" name="TextBox 1"/>
          <p:cNvSpPr txBox="1"/>
          <p:nvPr/>
        </p:nvSpPr>
        <p:spPr>
          <a:xfrm>
            <a:off x="1983898" y="5983141"/>
            <a:ext cx="7858434" cy="523220"/>
          </a:xfrm>
          <a:prstGeom prst="rect">
            <a:avLst/>
          </a:prstGeom>
          <a:noFill/>
        </p:spPr>
        <p:txBody>
          <a:bodyPr wrap="none" rtlCol="0">
            <a:spAutoFit/>
          </a:bodyPr>
          <a:lstStyle/>
          <a:p>
            <a:pPr algn="ctr"/>
            <a:r>
              <a:rPr lang="en-US" sz="2800" b="1" u="sng" dirty="0">
                <a:solidFill>
                  <a:srgbClr val="691450"/>
                </a:solidFill>
              </a:rPr>
              <a:t>Machine Learning for materials informatics  (MLMI)</a:t>
            </a:r>
            <a:endParaRPr lang="en-US"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p:cNvSpPr txBox="1"/>
          <p:nvPr/>
        </p:nvSpPr>
        <p:spPr>
          <a:xfrm>
            <a:off x="11828460" y="6447367"/>
            <a:ext cx="33655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24766C8-FE37-C242-AED9-A550D3C7D878}" type="slidenum">
              <a:rPr lang="en-US" sz="1800" b="1" smtClean="0">
                <a:solidFill>
                  <a:srgbClr val="691450"/>
                </a:solidFill>
              </a:rPr>
            </a:fld>
            <a:endParaRPr lang="en-US" sz="1800" b="1" dirty="0">
              <a:solidFill>
                <a:srgbClr val="691450"/>
              </a:solidFill>
            </a:endParaRPr>
          </a:p>
        </p:txBody>
      </p:sp>
      <p:cxnSp>
        <p:nvCxnSpPr>
          <p:cNvPr id="26" name="Straight Connector 25"/>
          <p:cNvCxnSpPr/>
          <p:nvPr/>
        </p:nvCxnSpPr>
        <p:spPr>
          <a:xfrm>
            <a:off x="-20408"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0" y="1"/>
            <a:ext cx="12192000" cy="23324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67746" y="623414"/>
            <a:ext cx="5355771" cy="1076325"/>
          </a:xfrm>
          <a:prstGeom prst="rect">
            <a:avLst/>
          </a:prstGeom>
          <a:noFill/>
        </p:spPr>
        <p:txBody>
          <a:bodyPr wrap="square" rtlCol="0">
            <a:spAutoFit/>
          </a:bodyPr>
          <a:lstStyle/>
          <a:p>
            <a:r>
              <a:rPr lang="en-US" altLang="en-US" sz="3200" b="1" dirty="0">
                <a:solidFill>
                  <a:srgbClr val="FF0000"/>
                </a:solidFill>
              </a:rPr>
              <a:t>FeAg3 - Functional Intermetallic Alloy</a:t>
            </a:r>
            <a:r>
              <a:rPr lang="en-US" sz="3200" b="1" dirty="0">
                <a:solidFill>
                  <a:srgbClr val="FF0000"/>
                </a:solidFill>
              </a:rPr>
              <a:t> </a:t>
            </a:r>
            <a:endParaRPr lang="en-IN" sz="3200" b="1" dirty="0">
              <a:solidFill>
                <a:srgbClr val="FF0000"/>
              </a:solidFill>
            </a:endParaRPr>
          </a:p>
        </p:txBody>
      </p:sp>
      <p:sp>
        <p:nvSpPr>
          <p:cNvPr id="2" name="TextBox 1"/>
          <p:cNvSpPr txBox="1"/>
          <p:nvPr/>
        </p:nvSpPr>
        <p:spPr>
          <a:xfrm>
            <a:off x="8673969" y="5183520"/>
            <a:ext cx="2877329" cy="460375"/>
          </a:xfrm>
          <a:prstGeom prst="rect">
            <a:avLst/>
          </a:prstGeom>
          <a:noFill/>
        </p:spPr>
        <p:txBody>
          <a:bodyPr wrap="square" rtlCol="0">
            <a:spAutoFit/>
          </a:bodyPr>
          <a:lstStyle/>
          <a:p>
            <a:pPr algn="ctr"/>
            <a:r>
              <a:rPr lang="en-US" sz="2400" dirty="0">
                <a:solidFill>
                  <a:srgbClr val="011893"/>
                </a:solidFill>
              </a:rPr>
              <a:t>Structure of </a:t>
            </a:r>
            <a:r>
              <a:rPr lang="en-IN" altLang="en-US" sz="2400" dirty="0">
                <a:solidFill>
                  <a:srgbClr val="011893"/>
                </a:solidFill>
              </a:rPr>
              <a:t>FeAg3</a:t>
            </a:r>
            <a:endParaRPr lang="en-IN" altLang="en-US" sz="2400" dirty="0">
              <a:solidFill>
                <a:srgbClr val="011893"/>
              </a:solidFill>
            </a:endParaRPr>
          </a:p>
        </p:txBody>
      </p:sp>
      <p:pic>
        <p:nvPicPr>
          <p:cNvPr id="4" name="Picture 3"/>
          <p:cNvPicPr>
            <a:picLocks noChangeAspect="1"/>
          </p:cNvPicPr>
          <p:nvPr/>
        </p:nvPicPr>
        <p:blipFill>
          <a:blip r:embed="rId1"/>
          <a:stretch>
            <a:fillRect/>
          </a:stretch>
        </p:blipFill>
        <p:spPr>
          <a:xfrm>
            <a:off x="8055610" y="359410"/>
            <a:ext cx="3495675" cy="4552950"/>
          </a:xfrm>
          <a:prstGeom prst="rect">
            <a:avLst/>
          </a:prstGeom>
        </p:spPr>
      </p:pic>
      <p:sp>
        <p:nvSpPr>
          <p:cNvPr id="5" name="Text Box 4"/>
          <p:cNvSpPr txBox="1"/>
          <p:nvPr/>
        </p:nvSpPr>
        <p:spPr>
          <a:xfrm>
            <a:off x="1143635" y="1794827"/>
            <a:ext cx="5080000" cy="4215765"/>
          </a:xfrm>
          <a:prstGeom prst="rect">
            <a:avLst/>
          </a:prstGeom>
        </p:spPr>
        <p:txBody>
          <a:bodyPr>
            <a:spAutoFit/>
          </a:bodyPr>
          <a:p>
            <a:pPr marL="0" indent="0">
              <a:lnSpc>
                <a:spcPts val="1600"/>
              </a:lnSpc>
              <a:spcBef>
                <a:spcPct val="0"/>
              </a:spcBef>
              <a:spcAft>
                <a:spcPts val="800"/>
              </a:spcAft>
            </a:pPr>
            <a:endParaRPr sz="2200" b="1">
              <a:solidFill>
                <a:srgbClr val="0F1115"/>
              </a:solidFill>
              <a:latin typeface="quote-cjk-patch"/>
              <a:ea typeface="quote-cjk-patch"/>
            </a:endParaRPr>
          </a:p>
          <a:p>
            <a:pPr marL="0" indent="0">
              <a:spcBef>
                <a:spcPts val="800"/>
              </a:spcBef>
              <a:spcAft>
                <a:spcPts val="800"/>
              </a:spcAft>
            </a:pPr>
            <a:r>
              <a:rPr sz="1600" b="0" i="0">
                <a:solidFill>
                  <a:srgbClr val="0F1115"/>
                </a:solidFill>
                <a:latin typeface="quote-cjk-patch"/>
                <a:ea typeface="quote-cjk-patch"/>
              </a:rPr>
              <a:t>Mechanical Properties:</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Young's Modulus: 1.23 GPa (Controlled flexibility)</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Ultimate Tensile Strength: 185.5 MPa</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Maximum Strain: 0.01% (Brittle behavior)</a:t>
            </a:r>
            <a:endParaRPr sz="1600" b="0" i="0">
              <a:solidFill>
                <a:srgbClr val="0F1115"/>
              </a:solidFill>
              <a:latin typeface="quote-cjk-patch"/>
              <a:ea typeface="quote-cjk-patch"/>
            </a:endParaRPr>
          </a:p>
          <a:p>
            <a:pPr marL="0" indent="0">
              <a:spcBef>
                <a:spcPts val="800"/>
              </a:spcBef>
              <a:spcAft>
                <a:spcPts val="800"/>
              </a:spcAft>
            </a:pPr>
            <a:r>
              <a:rPr sz="1600" b="0" i="0">
                <a:solidFill>
                  <a:srgbClr val="0F1115"/>
                </a:solidFill>
                <a:latin typeface="quote-cjk-patch"/>
                <a:ea typeface="quote-cjk-patch"/>
              </a:rPr>
              <a:t>Structural Properties:</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Crystal System: Hexagonal</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Lattice Parameters: a=b=5.78Å, c=4.64Å</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Composition: FeAg₃ (25% Fe, 75% Ag)</a:t>
            </a:r>
            <a:endParaRPr sz="1600" b="0" i="0">
              <a:solidFill>
                <a:srgbClr val="0F1115"/>
              </a:solidFill>
              <a:latin typeface="quote-cjk-patch"/>
              <a:ea typeface="quote-cjk-patch"/>
            </a:endParaRPr>
          </a:p>
          <a:p>
            <a:pPr marL="0" indent="0">
              <a:spcBef>
                <a:spcPts val="800"/>
              </a:spcBef>
              <a:spcAft>
                <a:spcPts val="800"/>
              </a:spcAft>
            </a:pPr>
            <a:r>
              <a:rPr sz="1600" b="0" i="0">
                <a:solidFill>
                  <a:srgbClr val="0F1115"/>
                </a:solidFill>
                <a:latin typeface="quote-cjk-patch"/>
                <a:ea typeface="quote-cjk-patch"/>
              </a:rPr>
              <a:t>Functional Characteristics:</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Good electrical/thermal conductivity</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Tailorable magnetic properties</a:t>
            </a:r>
            <a:endParaRPr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sz="1600" b="0" i="0">
                <a:solidFill>
                  <a:srgbClr val="0F1115"/>
                </a:solidFill>
                <a:latin typeface="quote-cjk-patch"/>
                <a:ea typeface="quote-cjk-patch"/>
              </a:rPr>
              <a:t>Lower density (~10.5 g/cm³)</a:t>
            </a:r>
            <a:endParaRPr sz="1600" b="0" i="0">
              <a:solidFill>
                <a:srgbClr val="0F1115"/>
              </a:solidFill>
              <a:latin typeface="quote-cjk-patch"/>
              <a:ea typeface="quote-cjk-patch"/>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2555" y="463139"/>
            <a:ext cx="10157927" cy="583565"/>
          </a:xfrm>
          <a:prstGeom prst="rect">
            <a:avLst/>
          </a:prstGeom>
          <a:noFill/>
        </p:spPr>
        <p:txBody>
          <a:bodyPr wrap="square" rtlCol="0">
            <a:spAutoFit/>
          </a:bodyPr>
          <a:lstStyle/>
          <a:p>
            <a:r>
              <a:rPr lang="en-US" sz="3200" b="1" dirty="0">
                <a:solidFill>
                  <a:srgbClr val="FF0000"/>
                </a:solidFill>
              </a:rPr>
              <a:t>Why Study </a:t>
            </a:r>
            <a:r>
              <a:rPr lang="en-IN" altLang="en-US" sz="3200" b="1" dirty="0">
                <a:solidFill>
                  <a:srgbClr val="FF0000"/>
                </a:solidFill>
              </a:rPr>
              <a:t>Fe</a:t>
            </a:r>
            <a:r>
              <a:rPr lang="en-US" sz="3200" b="1" dirty="0">
                <a:solidFill>
                  <a:srgbClr val="FF0000"/>
                </a:solidFill>
              </a:rPr>
              <a:t>-A</a:t>
            </a:r>
            <a:r>
              <a:rPr lang="en-IN" altLang="en-US" sz="3200" b="1" dirty="0">
                <a:solidFill>
                  <a:srgbClr val="FF0000"/>
                </a:solidFill>
              </a:rPr>
              <a:t>g3</a:t>
            </a:r>
            <a:r>
              <a:rPr lang="en-US" sz="3200" b="1" dirty="0">
                <a:solidFill>
                  <a:srgbClr val="FF0000"/>
                </a:solidFill>
              </a:rPr>
              <a:t> Alloys </a:t>
            </a:r>
            <a:endParaRPr lang="en-US" sz="3200" b="1" dirty="0">
              <a:solidFill>
                <a:srgbClr val="FF0000"/>
              </a:solidFill>
            </a:endParaRPr>
          </a:p>
        </p:txBody>
      </p:sp>
      <p:sp>
        <p:nvSpPr>
          <p:cNvPr id="9" name="Slide Number Placeholder 1"/>
          <p:cNvSpPr txBox="1"/>
          <p:nvPr/>
        </p:nvSpPr>
        <p:spPr>
          <a:xfrm>
            <a:off x="11828460" y="6447367"/>
            <a:ext cx="33655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24766C8-FE37-C242-AED9-A550D3C7D878}" type="slidenum">
              <a:rPr lang="en-US" sz="1800" b="1" smtClean="0">
                <a:solidFill>
                  <a:srgbClr val="691450"/>
                </a:solidFill>
              </a:rPr>
            </a:fld>
            <a:endParaRPr lang="en-US" sz="1800" b="1" dirty="0">
              <a:solidFill>
                <a:srgbClr val="691450"/>
              </a:solidFill>
            </a:endParaRPr>
          </a:p>
        </p:txBody>
      </p:sp>
      <p:cxnSp>
        <p:nvCxnSpPr>
          <p:cNvPr id="5" name="Straight Connector 4"/>
          <p:cNvCxnSpPr/>
          <p:nvPr/>
        </p:nvCxnSpPr>
        <p:spPr>
          <a:xfrm>
            <a:off x="-11077"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0" y="1"/>
            <a:ext cx="12192000" cy="194972"/>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33985" y="1663065"/>
            <a:ext cx="7051675" cy="4707890"/>
          </a:xfrm>
          <a:prstGeom prst="rect">
            <a:avLst/>
          </a:prstGeom>
          <a:noFill/>
        </p:spPr>
        <p:txBody>
          <a:bodyPr wrap="square" rtlCol="0" anchor="t">
            <a:spAutoFit/>
          </a:bodyPr>
          <a:lstStyle/>
          <a:p>
            <a:pPr marL="342900" indent="-342900">
              <a:buFont typeface="Wingdings" panose="05000000000000000000" pitchFamily="2" charset="2"/>
              <a:buChar char="Ø"/>
            </a:pPr>
            <a:r>
              <a:rPr lang="en-US" altLang="en-US" sz="2000" dirty="0"/>
              <a:t>Unique Functional Properties:</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Controlled mechanical behavior (1.23 GPa Young's Modulus)</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Excellent electrical conductivity + tailorable magnetic response</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Lower density with balanced strength-conductivity tradeoff</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Perfect Computational Model:</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Simple hexagonal structure ideal for MD simulations</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r>
              <a:rPr lang="en-US" altLang="en-US" sz="2000" dirty="0"/>
              <a:t>Model system for studying intermetallic bonding</a:t>
            </a:r>
            <a:endParaRPr lang="en-US" altLang="en-US" sz="2000" dirty="0"/>
          </a:p>
          <a:p>
            <a:pPr marL="342900" indent="-342900">
              <a:buFont typeface="Wingdings" panose="05000000000000000000" pitchFamily="2" charset="2"/>
              <a:buChar char="Ø"/>
            </a:pPr>
            <a:endParaRPr lang="en-US" altLang="en-US" sz="2000" dirty="0"/>
          </a:p>
          <a:p>
            <a:pPr marL="342900" indent="-342900">
              <a:buFont typeface="Wingdings" panose="05000000000000000000" pitchFamily="2" charset="2"/>
              <a:buChar char="Ø"/>
            </a:pPr>
            <a:endParaRPr lang="en-US" altLang="en-US" sz="2000" dirty="0"/>
          </a:p>
        </p:txBody>
      </p:sp>
      <p:pic>
        <p:nvPicPr>
          <p:cNvPr id="4" name="Picture 3" descr="structure_3d"/>
          <p:cNvPicPr>
            <a:picLocks noChangeAspect="1"/>
          </p:cNvPicPr>
          <p:nvPr/>
        </p:nvPicPr>
        <p:blipFill>
          <a:blip r:embed="rId1"/>
          <a:stretch>
            <a:fillRect/>
          </a:stretch>
        </p:blipFill>
        <p:spPr>
          <a:xfrm>
            <a:off x="7145020" y="1663065"/>
            <a:ext cx="4683125" cy="3957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17241" y="83832"/>
            <a:ext cx="6099858" cy="584775"/>
          </a:xfrm>
          <a:prstGeom prst="rect">
            <a:avLst/>
          </a:prstGeom>
          <a:noFill/>
        </p:spPr>
        <p:txBody>
          <a:bodyPr wrap="square">
            <a:spAutoFit/>
          </a:bodyPr>
          <a:lstStyle/>
          <a:p>
            <a:r>
              <a:rPr lang="en-US" sz="3200" b="1" dirty="0">
                <a:solidFill>
                  <a:srgbClr val="FF0000"/>
                </a:solidFill>
              </a:rPr>
              <a:t>Properties Predicting</a:t>
            </a:r>
            <a:endParaRPr lang="en-US" sz="3200" b="1" dirty="0">
              <a:solidFill>
                <a:srgbClr val="FF0000"/>
              </a:solidFill>
            </a:endParaRPr>
          </a:p>
        </p:txBody>
      </p:sp>
      <mc:AlternateContent xmlns:mc="http://schemas.openxmlformats.org/markup-compatibility/2006">
        <mc:Choice xmlns:a14="http://schemas.microsoft.com/office/drawing/2010/main" Requires="a14">
          <p:sp>
            <p:nvSpPr>
              <p:cNvPr id="5" name="TextBox 4"/>
              <p:cNvSpPr txBox="1"/>
              <p:nvPr/>
            </p:nvSpPr>
            <p:spPr>
              <a:xfrm>
                <a:off x="317241" y="1259630"/>
                <a:ext cx="11383347" cy="5765746"/>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Young’s Modulus</a:t>
                </a:r>
                <a:r>
                  <a:rPr lang="en-IN" dirty="0"/>
                  <a:t> – A measure of stiffness</a:t>
                </a:r>
                <a:endParaRPr lang="en-IN" dirty="0"/>
              </a:p>
              <a:p>
                <a:pPr marL="342900" indent="-342900">
                  <a:buFont typeface="Wingdings" panose="05000000000000000000" pitchFamily="2" charset="2"/>
                  <a:buChar char="Ø"/>
                </a:pPr>
                <a:endParaRPr lang="en-IN" dirty="0"/>
              </a:p>
              <a:p>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𝑌</m:t>
                      </m:r>
                      <m:r>
                        <a:rPr lang="en-IN">
                          <a:latin typeface="Cambria Math" panose="02040503050406030204" pitchFamily="18" charset="0"/>
                        </a:rPr>
                        <m:t>=</m:t>
                      </m:r>
                      <m:f>
                        <m:fPr>
                          <m:ctrlPr>
                            <a:rPr lang="ar-AE" i="1">
                              <a:latin typeface="Cambria Math" panose="02040503050406030204" pitchFamily="18" charset="0"/>
                            </a:rPr>
                          </m:ctrlPr>
                        </m:fPr>
                        <m:num>
                          <m:r>
                            <m:rPr>
                              <m:nor/>
                            </m:rPr>
                            <a:rPr lang="en-IN" i="1">
                              <a:latin typeface="Cambria Math" panose="02040503050406030204" pitchFamily="18" charset="0"/>
                            </a:rPr>
                            <m:t>tensile</m:t>
                          </m:r>
                          <m:r>
                            <m:rPr>
                              <m:nor/>
                            </m:rPr>
                            <a:rPr lang="en-IN" i="1">
                              <a:latin typeface="Cambria Math" panose="02040503050406030204" pitchFamily="18" charset="0"/>
                            </a:rPr>
                            <m:t> </m:t>
                          </m:r>
                          <m:r>
                            <m:rPr>
                              <m:nor/>
                            </m:rPr>
                            <a:rPr lang="en-IN" i="1">
                              <a:latin typeface="Cambria Math" panose="02040503050406030204" pitchFamily="18" charset="0"/>
                            </a:rPr>
                            <m:t>stress</m:t>
                          </m:r>
                        </m:num>
                        <m:den>
                          <m:r>
                            <m:rPr>
                              <m:nor/>
                            </m:rPr>
                            <a:rPr lang="en-IN" i="1">
                              <a:latin typeface="Cambria Math" panose="02040503050406030204" pitchFamily="18" charset="0"/>
                            </a:rPr>
                            <m:t>tensile</m:t>
                          </m:r>
                          <m:r>
                            <m:rPr>
                              <m:nor/>
                            </m:rPr>
                            <a:rPr lang="en-IN" i="1">
                              <a:latin typeface="Cambria Math" panose="02040503050406030204" pitchFamily="18" charset="0"/>
                            </a:rPr>
                            <m:t> </m:t>
                          </m:r>
                          <m:r>
                            <m:rPr>
                              <m:nor/>
                            </m:rPr>
                            <a:rPr lang="en-IN" i="1">
                              <a:latin typeface="Cambria Math" panose="02040503050406030204" pitchFamily="18" charset="0"/>
                            </a:rPr>
                            <m:t>strain</m:t>
                          </m:r>
                        </m:den>
                      </m:f>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𝐹</m:t>
                              </m:r>
                            </m:e>
                            <m:sub>
                              <m:r>
                                <a:rPr lang="ar-AE">
                                  <a:latin typeface="Cambria Math" panose="02040503050406030204" pitchFamily="18" charset="0"/>
                                </a:rPr>
                                <m:t>⊥</m:t>
                              </m:r>
                            </m:sub>
                          </m:sSub>
                          <m:r>
                            <a:rPr lang="ar-AE">
                              <a:latin typeface="Cambria Math" panose="02040503050406030204" pitchFamily="18" charset="0"/>
                            </a:rPr>
                            <m:t>/</m:t>
                          </m:r>
                          <m:r>
                            <a:rPr lang="ar-AE" i="1">
                              <a:latin typeface="Cambria Math" panose="02040503050406030204" pitchFamily="18" charset="0"/>
                            </a:rPr>
                            <m:t>𝐴</m:t>
                          </m:r>
                        </m:num>
                        <m:den>
                          <m:r>
                            <m:rPr>
                              <m:sty m:val="p"/>
                            </m:rPr>
                            <a:rPr lang="el-GR">
                              <a:latin typeface="Cambria Math" panose="02040503050406030204" pitchFamily="18" charset="0"/>
                            </a:rPr>
                            <m:t>Δ</m:t>
                          </m:r>
                          <m:r>
                            <a:rPr lang="el-GR" i="1">
                              <a:latin typeface="Cambria Math" panose="02040503050406030204" pitchFamily="18" charset="0"/>
                            </a:rPr>
                            <m:t>𝐿</m:t>
                          </m:r>
                          <m:r>
                            <a:rPr lang="el-GR">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a:latin typeface="Cambria Math" panose="02040503050406030204" pitchFamily="18" charset="0"/>
                                </a:rPr>
                                <m:t>0</m:t>
                              </m:r>
                            </m:sub>
                          </m:sSub>
                        </m:den>
                      </m:f>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𝐹</m:t>
                              </m:r>
                            </m:e>
                            <m:sub>
                              <m:r>
                                <a:rPr lang="ar-AE">
                                  <a:latin typeface="Cambria Math" panose="02040503050406030204" pitchFamily="18" charset="0"/>
                                </a:rPr>
                                <m:t>⊥</m:t>
                              </m:r>
                            </m:sub>
                          </m:sSub>
                        </m:num>
                        <m:den>
                          <m:r>
                            <a:rPr lang="ar-AE" i="1">
                              <a:latin typeface="Cambria Math" panose="02040503050406030204" pitchFamily="18" charset="0"/>
                            </a:rPr>
                            <m:t>𝐴</m:t>
                          </m:r>
                        </m:den>
                      </m:f>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a:latin typeface="Cambria Math" panose="02040503050406030204" pitchFamily="18" charset="0"/>
                                </a:rPr>
                                <m:t>0</m:t>
                              </m:r>
                            </m:sub>
                          </m:sSub>
                        </m:num>
                        <m:den>
                          <m:r>
                            <m:rPr>
                              <m:sty m:val="p"/>
                            </m:rPr>
                            <a:rPr lang="el-GR">
                              <a:latin typeface="Cambria Math" panose="02040503050406030204" pitchFamily="18" charset="0"/>
                            </a:rPr>
                            <m:t>Δ</m:t>
                          </m:r>
                          <m:r>
                            <a:rPr lang="el-GR" i="1">
                              <a:latin typeface="Cambria Math" panose="02040503050406030204" pitchFamily="18" charset="0"/>
                            </a:rPr>
                            <m:t>𝐿</m:t>
                          </m:r>
                        </m:den>
                      </m:f>
                    </m:oMath>
                  </m:oMathPara>
                </a14:m>
                <a:endParaRPr lang="ar-AE" b="0" dirty="0"/>
              </a:p>
              <a:p>
                <a:br>
                  <a:rPr lang="ar-AE" dirty="0"/>
                </a:br>
                <a:endParaRPr lang="ar-AE" dirty="0"/>
              </a:p>
              <a:p>
                <a:pPr marL="342900" indent="-342900">
                  <a:buFont typeface="Wingdings" panose="05000000000000000000" pitchFamily="2" charset="2"/>
                  <a:buChar char="Ø"/>
                </a:pPr>
                <a:r>
                  <a:rPr lang="en-IN" sz="2000" b="1" dirty="0"/>
                  <a:t>Ultimate Tensile Strength</a:t>
                </a:r>
                <a:r>
                  <a:rPr lang="en-IN" sz="2000" dirty="0"/>
                  <a:t> </a:t>
                </a:r>
                <a:r>
                  <a:rPr lang="en-IN" dirty="0"/>
                  <a:t>– The maximum stress the alloy can withstand before failure</a:t>
                </a:r>
                <a:endParaRPr lang="en-IN" dirty="0"/>
              </a:p>
              <a:p>
                <a:pPr marL="342900" indent="-342900">
                  <a:buFont typeface="Wingdings" panose="05000000000000000000" pitchFamily="2" charset="2"/>
                  <a:buChar char="Ø"/>
                </a:pPr>
                <a:endParaRPr lang="en-IN" dirty="0"/>
              </a:p>
              <a:p>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𝑈𝑇𝑆</m:t>
                      </m:r>
                      <m:r>
                        <a:rPr lang="en-IN">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𝐹</m:t>
                              </m:r>
                            </m:e>
                            <m:sub>
                              <m:r>
                                <a:rPr lang="ar-AE" i="1">
                                  <a:latin typeface="Cambria Math" panose="02040503050406030204" pitchFamily="18" charset="0"/>
                                </a:rPr>
                                <m:t>𝑚𝑎𝑥</m:t>
                              </m:r>
                            </m:sub>
                          </m:sSub>
                        </m:num>
                        <m:den>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0</m:t>
                              </m:r>
                            </m:sub>
                          </m:sSub>
                        </m:den>
                      </m:f>
                    </m:oMath>
                  </m:oMathPara>
                </a14:m>
                <a:endParaRPr lang="ar-AE" dirty="0"/>
              </a:p>
              <a:p>
                <a:br>
                  <a:rPr lang="ar-AE" dirty="0"/>
                </a:br>
                <a:endParaRPr lang="ar-AE" dirty="0"/>
              </a:p>
              <a:p>
                <a:pPr marL="285750" indent="-285750">
                  <a:buFont typeface="Wingdings" panose="05000000000000000000" pitchFamily="2" charset="2"/>
                  <a:buChar char="Ø"/>
                </a:pPr>
                <a:r>
                  <a:rPr lang="en-IN" sz="2000" b="1" dirty="0"/>
                  <a:t>Yield Strength</a:t>
                </a:r>
                <a:r>
                  <a:rPr lang="en-IN" sz="2000" dirty="0"/>
                  <a:t> </a:t>
                </a:r>
                <a:r>
                  <a:rPr lang="en-IN" dirty="0"/>
                  <a:t>– The stress limit before permanent deformation</a:t>
                </a:r>
                <a:endParaRPr lang="en-IN" dirty="0"/>
              </a:p>
              <a:p>
                <a:pPr marL="285750" indent="-285750">
                  <a:buFont typeface="Wingdings" panose="05000000000000000000" pitchFamily="2" charset="2"/>
                  <a:buChar char="Ø"/>
                </a:pPr>
                <a:endParaRPr lang="en-IN" dirty="0"/>
              </a:p>
              <a:p>
                <a14:m>
                  <m:oMathPara xmlns:m="http://schemas.openxmlformats.org/officeDocument/2006/math">
                    <m:oMathParaPr>
                      <m:jc m:val="centerGroup"/>
                    </m:oMathParaPr>
                    <m:oMath xmlns:m="http://schemas.openxmlformats.org/officeDocument/2006/math">
                      <m:r>
                        <m:rPr>
                          <m:nor/>
                        </m:rPr>
                        <a:rPr lang="en-IN" b="0">
                          <a:latin typeface="Cambria Math" panose="02040503050406030204" pitchFamily="18" charset="0"/>
                        </a:rPr>
                        <m:t>Yield</m:t>
                      </m:r>
                      <m:r>
                        <m:rPr>
                          <m:nor/>
                        </m:rPr>
                        <a:rPr lang="en-IN" b="0" i="1">
                          <a:latin typeface="Cambria Math" panose="02040503050406030204" pitchFamily="18" charset="0"/>
                        </a:rPr>
                        <m:t> </m:t>
                      </m:r>
                      <m:r>
                        <m:rPr>
                          <m:nor/>
                        </m:rPr>
                        <a:rPr lang="en-IN" b="0" i="1">
                          <a:latin typeface="Cambria Math" panose="02040503050406030204" pitchFamily="18" charset="0"/>
                        </a:rPr>
                        <m:t>strength</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𝜎</m:t>
                          </m:r>
                        </m:e>
                        <m:sub>
                          <m:r>
                            <a:rPr lang="ar-AE" i="1">
                              <a:latin typeface="Cambria Math" panose="02040503050406030204" pitchFamily="18" charset="0"/>
                            </a:rPr>
                            <m:t>𝑌</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𝑌</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𝐹</m:t>
                          </m:r>
                        </m:num>
                        <m:den>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0</m:t>
                              </m:r>
                            </m:sub>
                          </m:sSub>
                        </m:den>
                      </m:f>
                    </m:oMath>
                  </m:oMathPara>
                </a14:m>
                <a:endParaRPr lang="ar-AE" b="0" dirty="0"/>
              </a:p>
              <a:p>
                <a:br>
                  <a:rPr lang="ar-AE" dirty="0"/>
                </a:br>
                <a:endParaRPr lang="ar-AE" dirty="0"/>
              </a:p>
              <a:p>
                <a:endParaRPr lang="en-US" b="1" dirty="0"/>
              </a:p>
              <a:p>
                <a:pPr lvl="2"/>
                <a:endParaRPr lang="en-IN" b="1" dirty="0"/>
              </a:p>
            </p:txBody>
          </p:sp>
        </mc:Choice>
        <mc:Fallback>
          <p:sp>
            <p:nvSpPr>
              <p:cNvPr id="5" name="TextBox 4"/>
              <p:cNvSpPr txBox="1">
                <a:spLocks noRot="1" noChangeAspect="1" noMove="1" noResize="1" noEditPoints="1" noAdjustHandles="1" noChangeArrowheads="1" noChangeShapeType="1" noTextEdit="1"/>
              </p:cNvSpPr>
              <p:nvPr/>
            </p:nvSpPr>
            <p:spPr>
              <a:xfrm>
                <a:off x="317241" y="1259630"/>
                <a:ext cx="11383347" cy="5765746"/>
              </a:xfrm>
              <a:prstGeom prst="rect">
                <a:avLst/>
              </a:prstGeom>
              <a:blipFill rotWithShape="1">
                <a:blip r:embed="rId1"/>
                <a:stretch>
                  <a:fillRect l="-3" t="-7" r="1" b="6"/>
                </a:stretch>
              </a:blipFill>
            </p:spPr>
            <p:txBody>
              <a:bodyPr/>
              <a:lstStyle/>
              <a:p>
                <a:r>
                  <a:rPr lang="en-US"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223" y="97272"/>
            <a:ext cx="4366901" cy="584775"/>
          </a:xfrm>
          <a:prstGeom prst="rect">
            <a:avLst/>
          </a:prstGeom>
          <a:noFill/>
        </p:spPr>
        <p:txBody>
          <a:bodyPr wrap="none" rtlCol="0">
            <a:spAutoFit/>
          </a:bodyPr>
          <a:lstStyle/>
          <a:p>
            <a:r>
              <a:rPr lang="en-US" sz="3200" b="1" dirty="0">
                <a:solidFill>
                  <a:srgbClr val="FF0000"/>
                </a:solidFill>
              </a:rPr>
              <a:t>Data Generation Process</a:t>
            </a:r>
            <a:endParaRPr lang="en-US" sz="3200" b="1" dirty="0">
              <a:solidFill>
                <a:srgbClr val="FF0000"/>
              </a:solidFill>
            </a:endParaRPr>
          </a:p>
        </p:txBody>
      </p:sp>
      <p:graphicFrame>
        <p:nvGraphicFramePr>
          <p:cNvPr id="6" name="Table 5"/>
          <p:cNvGraphicFramePr/>
          <p:nvPr>
            <p:custDataLst>
              <p:tags r:id="rId1"/>
            </p:custDataLst>
          </p:nvPr>
        </p:nvGraphicFramePr>
        <p:xfrm>
          <a:off x="83820" y="1399540"/>
          <a:ext cx="10668000" cy="4518025"/>
        </p:xfrm>
        <a:graphic>
          <a:graphicData uri="http://schemas.openxmlformats.org/drawingml/2006/table">
            <a:tbl>
              <a:tblPr/>
              <a:tblGrid>
                <a:gridCol w="3677920"/>
                <a:gridCol w="3495040"/>
                <a:gridCol w="3495040"/>
              </a:tblGrid>
              <a:tr h="514985">
                <a:tc>
                  <a:txBody>
                    <a:bodyPr/>
                    <a:p>
                      <a:pPr algn="l">
                        <a:lnSpc>
                          <a:spcPts val="1250"/>
                        </a:lnSpc>
                      </a:pPr>
                      <a:r>
                        <a:rPr sz="1400" b="0">
                          <a:latin typeface="quote-cjk-patch"/>
                          <a:ea typeface="quote-cjk-patch"/>
                        </a:rPr>
                        <a:t>Step</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gn="l">
                        <a:lnSpc>
                          <a:spcPts val="1250"/>
                        </a:lnSpc>
                      </a:pPr>
                      <a:r>
                        <a:rPr sz="1400" b="0">
                          <a:latin typeface="quote-cjk-patch"/>
                          <a:ea typeface="quote-cjk-patch"/>
                        </a:rPr>
                        <a:t>Description</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gn="l">
                        <a:lnSpc>
                          <a:spcPts val="1250"/>
                        </a:lnSpc>
                      </a:pPr>
                      <a:r>
                        <a:rPr sz="1400" b="0">
                          <a:latin typeface="quote-cjk-patch"/>
                          <a:ea typeface="quote-cjk-patch"/>
                        </a:rPr>
                        <a:t>Key Components</a:t>
                      </a:r>
                      <a:endParaRPr sz="1400" b="0">
                        <a:latin typeface="quote-cjk-patch"/>
                        <a:ea typeface="quote-cjk-patch"/>
                      </a:endParaRPr>
                    </a:p>
                  </a:txBody>
                  <a:tcPr marL="101917" marR="101917" marT="63817" marB="63817" anchor="ctr" anchorCtr="0">
                    <a:lnL>
                      <a:noFill/>
                    </a:lnL>
                    <a:lnR>
                      <a:noFill/>
                    </a:lnR>
                    <a:lnT>
                      <a:noFill/>
                    </a:lnT>
                    <a:lnB>
                      <a:noFill/>
                    </a:lnB>
                    <a:noFill/>
                  </a:tcPr>
                </a:tc>
              </a:tr>
              <a:tr h="800100">
                <a:tc>
                  <a:txBody>
                    <a:bodyPr/>
                    <a:p>
                      <a:pPr>
                        <a:lnSpc>
                          <a:spcPts val="1250"/>
                        </a:lnSpc>
                      </a:pPr>
                      <a:r>
                        <a:rPr sz="1400" b="0">
                          <a:latin typeface="quote-cjk-patch"/>
                          <a:ea typeface="quote-cjk-patch"/>
                        </a:rPr>
                        <a:t>Crystal Structure Setup</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Create hexagonal crystal with precise atomic positioning</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LAMMPS software, Lennard-Jones potential, FeAg₃ structure</a:t>
                      </a:r>
                      <a:endParaRPr sz="1400" b="0">
                        <a:latin typeface="quote-cjk-patch"/>
                        <a:ea typeface="quote-cjk-patch"/>
                      </a:endParaRPr>
                    </a:p>
                  </a:txBody>
                  <a:tcPr marL="101917" marR="0" marT="63817" marB="63817" anchor="ctr" anchorCtr="0">
                    <a:lnL>
                      <a:noFill/>
                    </a:lnL>
                    <a:lnR>
                      <a:noFill/>
                    </a:lnR>
                    <a:lnT>
                      <a:noFill/>
                    </a:lnT>
                    <a:lnB>
                      <a:noFill/>
                    </a:lnB>
                    <a:noFill/>
                  </a:tcPr>
                </a:tc>
              </a:tr>
              <a:tr h="800735">
                <a:tc>
                  <a:txBody>
                    <a:bodyPr/>
                    <a:p>
                      <a:pPr>
                        <a:lnSpc>
                          <a:spcPts val="1250"/>
                        </a:lnSpc>
                      </a:pPr>
                      <a:r>
                        <a:rPr sz="1400" b="0">
                          <a:latin typeface="quote-cjk-patch"/>
                          <a:ea typeface="quote-cjk-patch"/>
                        </a:rPr>
                        <a:t>Parameter Variation</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Systematic parameter sweeps across temperature and strain rates</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Temperature control (50-800K), Strain rate parameters (1e-6 to 1e-2 s⁻¹)</a:t>
                      </a:r>
                      <a:endParaRPr sz="1400" b="0">
                        <a:latin typeface="quote-cjk-patch"/>
                        <a:ea typeface="quote-cjk-patch"/>
                      </a:endParaRPr>
                    </a:p>
                  </a:txBody>
                  <a:tcPr marL="101917" marR="0" marT="63817" marB="63817" anchor="ctr" anchorCtr="0">
                    <a:lnL>
                      <a:noFill/>
                    </a:lnL>
                    <a:lnR>
                      <a:noFill/>
                    </a:lnR>
                    <a:lnT>
                      <a:noFill/>
                    </a:lnT>
                    <a:lnB>
                      <a:noFill/>
                    </a:lnB>
                    <a:noFill/>
                  </a:tcPr>
                </a:tc>
              </a:tr>
              <a:tr h="800735">
                <a:tc>
                  <a:txBody>
                    <a:bodyPr/>
                    <a:p>
                      <a:pPr>
                        <a:lnSpc>
                          <a:spcPts val="1250"/>
                        </a:lnSpc>
                      </a:pPr>
                      <a:r>
                        <a:rPr sz="1400" b="0">
                          <a:latin typeface="quote-cjk-patch"/>
                          <a:ea typeface="quote-cjk-patch"/>
                        </a:rPr>
                        <a:t>Tensile Testing</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Uniaxial deformation with constant strain rate and stress monitoring</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Deformation fixes, Stress calculation, Periodic boundary conditions</a:t>
                      </a:r>
                      <a:endParaRPr sz="1400" b="0">
                        <a:latin typeface="quote-cjk-patch"/>
                        <a:ea typeface="quote-cjk-patch"/>
                      </a:endParaRPr>
                    </a:p>
                  </a:txBody>
                  <a:tcPr marL="101917" marR="0" marT="63817" marB="63817" anchor="ctr" anchorCtr="0">
                    <a:lnL>
                      <a:noFill/>
                    </a:lnL>
                    <a:lnR>
                      <a:noFill/>
                    </a:lnR>
                    <a:lnT>
                      <a:noFill/>
                    </a:lnT>
                    <a:lnB>
                      <a:noFill/>
                    </a:lnB>
                    <a:noFill/>
                  </a:tcPr>
                </a:tc>
              </a:tr>
              <a:tr h="801370">
                <a:tc>
                  <a:txBody>
                    <a:bodyPr/>
                    <a:p>
                      <a:pPr>
                        <a:lnSpc>
                          <a:spcPts val="1250"/>
                        </a:lnSpc>
                      </a:pPr>
                      <a:r>
                        <a:rPr sz="1400" b="0">
                          <a:latin typeface="quote-cjk-patch"/>
                          <a:ea typeface="quote-cjk-patch"/>
                        </a:rPr>
                        <a:t>Property Extraction</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Stress-strain analysis to determine mechanical properties</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Linear regression, Young's modulus calculation, Peak stress detection</a:t>
                      </a:r>
                      <a:endParaRPr sz="1400" b="0">
                        <a:latin typeface="quote-cjk-patch"/>
                        <a:ea typeface="quote-cjk-patch"/>
                      </a:endParaRPr>
                    </a:p>
                  </a:txBody>
                  <a:tcPr marL="101917" marR="0" marT="63817" marB="63817" anchor="ctr" anchorCtr="0">
                    <a:lnL>
                      <a:noFill/>
                    </a:lnL>
                    <a:lnR>
                      <a:noFill/>
                    </a:lnR>
                    <a:lnT>
                      <a:noFill/>
                    </a:lnT>
                    <a:lnB>
                      <a:noFill/>
                    </a:lnB>
                    <a:noFill/>
                  </a:tcPr>
                </a:tc>
              </a:tr>
              <a:tr h="800100">
                <a:tc>
                  <a:txBody>
                    <a:bodyPr/>
                    <a:p>
                      <a:pPr>
                        <a:lnSpc>
                          <a:spcPts val="1250"/>
                        </a:lnSpc>
                      </a:pPr>
                      <a:r>
                        <a:rPr sz="1400" b="0">
                          <a:latin typeface="quote-cjk-patch"/>
                          <a:ea typeface="quote-cjk-patch"/>
                        </a:rPr>
                        <a:t>Feature Engineering</a:t>
                      </a:r>
                      <a:endParaRPr sz="1400" b="0">
                        <a:latin typeface="quote-cjk-patch"/>
                        <a:ea typeface="quote-cjk-patch"/>
                      </a:endParaRPr>
                    </a:p>
                  </a:txBody>
                  <a:tcPr marL="0"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Raw data processing and feature creation for ML datasets</a:t>
                      </a:r>
                      <a:endParaRPr sz="1400" b="0">
                        <a:latin typeface="quote-cjk-patch"/>
                        <a:ea typeface="quote-cjk-patch"/>
                      </a:endParaRPr>
                    </a:p>
                  </a:txBody>
                  <a:tcPr marL="101917" marR="101917" marT="63817" marB="63817" anchor="ctr" anchorCtr="0">
                    <a:lnL>
                      <a:noFill/>
                    </a:lnL>
                    <a:lnR>
                      <a:noFill/>
                    </a:lnR>
                    <a:lnT>
                      <a:noFill/>
                    </a:lnT>
                    <a:lnB>
                      <a:noFill/>
                    </a:lnB>
                    <a:noFill/>
                  </a:tcPr>
                </a:tc>
                <a:tc>
                  <a:txBody>
                    <a:bodyPr/>
                    <a:p>
                      <a:pPr>
                        <a:lnSpc>
                          <a:spcPts val="1250"/>
                        </a:lnSpc>
                      </a:pPr>
                      <a:r>
                        <a:rPr sz="1400" b="0">
                          <a:latin typeface="quote-cjk-patch"/>
                          <a:ea typeface="quote-cjk-patch"/>
                        </a:rPr>
                        <a:t>Lattice parameters, Composition features, Temperature/strain rate encoding</a:t>
                      </a:r>
                      <a:endParaRPr sz="1400" b="0">
                        <a:latin typeface="quote-cjk-patch"/>
                        <a:ea typeface="quote-cjk-patch"/>
                      </a:endParaRPr>
                    </a:p>
                  </a:txBody>
                  <a:tcPr marL="101917" marR="0" marT="63817" marB="63817"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3300" y="32472"/>
            <a:ext cx="5428666" cy="584775"/>
          </a:xfrm>
          <a:prstGeom prst="rect">
            <a:avLst/>
          </a:prstGeom>
          <a:noFill/>
        </p:spPr>
        <p:txBody>
          <a:bodyPr wrap="none" rtlCol="0">
            <a:spAutoFit/>
          </a:bodyPr>
          <a:lstStyle/>
          <a:p>
            <a:r>
              <a:rPr lang="en-US" sz="3200" b="1" dirty="0">
                <a:solidFill>
                  <a:srgbClr val="FF0000"/>
                </a:solidFill>
              </a:rPr>
              <a:t>Data Extraction and Processing</a:t>
            </a:r>
            <a:endParaRPr lang="en-US" sz="3200" b="1" dirty="0">
              <a:solidFill>
                <a:srgbClr val="FF0000"/>
              </a:solidFill>
            </a:endParaRPr>
          </a:p>
        </p:txBody>
      </p:sp>
      <p:graphicFrame>
        <p:nvGraphicFramePr>
          <p:cNvPr id="12" name="Table 11"/>
          <p:cNvGraphicFramePr>
            <a:graphicFrameLocks noGrp="1"/>
          </p:cNvGraphicFramePr>
          <p:nvPr/>
        </p:nvGraphicFramePr>
        <p:xfrm>
          <a:off x="617194" y="2066933"/>
          <a:ext cx="7631067" cy="3992880"/>
        </p:xfrm>
        <a:graphic>
          <a:graphicData uri="http://schemas.openxmlformats.org/drawingml/2006/table">
            <a:tbl>
              <a:tblPr firstRow="1" bandRow="1">
                <a:tableStyleId>{5C22544A-7EE6-4342-B048-85BDC9FD1C3A}</a:tableStyleId>
              </a:tblPr>
              <a:tblGrid>
                <a:gridCol w="2611198"/>
                <a:gridCol w="2807468"/>
                <a:gridCol w="2212401"/>
              </a:tblGrid>
              <a:tr h="370840">
                <a:tc>
                  <a:txBody>
                    <a:bodyPr/>
                    <a:lstStyle/>
                    <a:p>
                      <a:pPr>
                        <a:buNone/>
                      </a:pPr>
                      <a:r>
                        <a:rPr lang="en-IN" sz="2000" b="1" dirty="0">
                          <a:solidFill>
                            <a:schemeClr val="tx1"/>
                          </a:solidFill>
                        </a:rPr>
                        <a:t>Property Extraction</a:t>
                      </a:r>
                      <a:endParaRPr lang="en-IN" sz="2000" dirty="0">
                        <a:solidFill>
                          <a:schemeClr val="tx1"/>
                        </a:solidFill>
                      </a:endParaRPr>
                    </a:p>
                  </a:txBody>
                  <a:tcPr anchor="ctr"/>
                </a:tc>
                <a:tc>
                  <a:txBody>
                    <a:bodyPr/>
                    <a:lstStyle/>
                    <a:p>
                      <a:pPr>
                        <a:buNone/>
                      </a:pPr>
                      <a:r>
                        <a:rPr lang="en-US" sz="2000" b="1" dirty="0">
                          <a:solidFill>
                            <a:schemeClr val="tx1"/>
                          </a:solidFill>
                        </a:rPr>
                        <a:t>How It’s Taken from the Curve</a:t>
                      </a:r>
                      <a:endParaRPr lang="en-US" sz="2000" dirty="0">
                        <a:solidFill>
                          <a:schemeClr val="tx1"/>
                        </a:solidFill>
                      </a:endParaRPr>
                    </a:p>
                  </a:txBody>
                  <a:tcPr anchor="ctr"/>
                </a:tc>
                <a:tc>
                  <a:txBody>
                    <a:bodyPr/>
                    <a:lstStyle/>
                    <a:p>
                      <a:pPr>
                        <a:buNone/>
                      </a:pPr>
                      <a:r>
                        <a:rPr lang="en-IN" sz="2000" b="1" dirty="0">
                          <a:solidFill>
                            <a:schemeClr val="tx1"/>
                          </a:solidFill>
                        </a:rPr>
                        <a:t>ML Target Variable</a:t>
                      </a:r>
                      <a:endParaRPr lang="en-IN" sz="2000" dirty="0">
                        <a:solidFill>
                          <a:schemeClr val="tx1"/>
                        </a:solidFill>
                      </a:endParaRPr>
                    </a:p>
                  </a:txBody>
                  <a:tcPr anchor="ctr"/>
                </a:tc>
              </a:tr>
              <a:tr h="370840">
                <a:tc>
                  <a:txBody>
                    <a:bodyPr/>
                    <a:lstStyle/>
                    <a:p>
                      <a:pPr>
                        <a:buNone/>
                      </a:pPr>
                      <a:r>
                        <a:rPr lang="en-IN" b="1" dirty="0"/>
                        <a:t>Young’s Modulus</a:t>
                      </a:r>
                      <a:endParaRPr lang="en-IN" dirty="0"/>
                    </a:p>
                  </a:txBody>
                  <a:tcPr anchor="ctr"/>
                </a:tc>
                <a:tc>
                  <a:txBody>
                    <a:bodyPr/>
                    <a:lstStyle/>
                    <a:p>
                      <a:r>
                        <a:rPr lang="en-US" dirty="0"/>
                        <a:t>Calculated as the </a:t>
                      </a:r>
                      <a:r>
                        <a:rPr lang="en-US" b="1" dirty="0"/>
                        <a:t>slope</a:t>
                      </a:r>
                      <a:r>
                        <a:rPr lang="en-US" dirty="0"/>
                        <a:t> of the linear (elastic) region of the stress-strain curve.</a:t>
                      </a:r>
                      <a:endParaRPr lang="en-IN" dirty="0"/>
                    </a:p>
                  </a:txBody>
                  <a:tcPr/>
                </a:tc>
                <a:tc>
                  <a:txBody>
                    <a:bodyPr/>
                    <a:lstStyle/>
                    <a:p>
                      <a:pPr>
                        <a:buNone/>
                      </a:pPr>
                      <a:r>
                        <a:rPr lang="en-IN" b="1" dirty="0" err="1"/>
                        <a:t>youngs_modulus</a:t>
                      </a:r>
                      <a:endParaRPr lang="en-IN" dirty="0"/>
                    </a:p>
                  </a:txBody>
                  <a:tcPr anchor="ctr"/>
                </a:tc>
              </a:tr>
              <a:tr h="370840">
                <a:tc>
                  <a:txBody>
                    <a:bodyPr/>
                    <a:lstStyle/>
                    <a:p>
                      <a:pPr>
                        <a:buNone/>
                      </a:pPr>
                      <a:r>
                        <a:rPr lang="en-IN" b="1" dirty="0"/>
                        <a:t>Yield Strength</a:t>
                      </a:r>
                      <a:endParaRPr lang="en-IN" dirty="0"/>
                    </a:p>
                  </a:txBody>
                  <a:tcPr anchor="ctr"/>
                </a:tc>
                <a:tc>
                  <a:txBody>
                    <a:bodyPr/>
                    <a:lstStyle/>
                    <a:p>
                      <a:pPr>
                        <a:buNone/>
                      </a:pPr>
                      <a:r>
                        <a:rPr lang="en-US" dirty="0"/>
                        <a:t>Determined using the </a:t>
                      </a:r>
                      <a:r>
                        <a:rPr lang="en-US" b="1" dirty="0"/>
                        <a:t>0.2% offset method</a:t>
                      </a:r>
                      <a:r>
                        <a:rPr lang="en-US" dirty="0"/>
                        <a:t> on the stress-strain curve.</a:t>
                      </a:r>
                      <a:endParaRPr lang="en-US" dirty="0"/>
                    </a:p>
                  </a:txBody>
                  <a:tcPr anchor="ctr"/>
                </a:tc>
                <a:tc>
                  <a:txBody>
                    <a:bodyPr/>
                    <a:lstStyle/>
                    <a:p>
                      <a:pPr>
                        <a:buNone/>
                      </a:pPr>
                      <a:r>
                        <a:rPr lang="en-IN" b="1" dirty="0" err="1"/>
                        <a:t>yield_strength</a:t>
                      </a:r>
                      <a:endParaRPr lang="en-IN" dirty="0"/>
                    </a:p>
                  </a:txBody>
                  <a:tcPr anchor="ctr"/>
                </a:tc>
              </a:tr>
              <a:tr h="370840">
                <a:tc>
                  <a:txBody>
                    <a:bodyPr/>
                    <a:lstStyle/>
                    <a:p>
                      <a:pPr>
                        <a:buNone/>
                      </a:pPr>
                      <a:r>
                        <a:rPr lang="en-IN" b="1" dirty="0"/>
                        <a:t>Ultimate Tensile Strength</a:t>
                      </a:r>
                      <a:endParaRPr lang="en-IN" dirty="0"/>
                    </a:p>
                  </a:txBody>
                  <a:tcPr anchor="ctr"/>
                </a:tc>
                <a:tc>
                  <a:txBody>
                    <a:bodyPr/>
                    <a:lstStyle/>
                    <a:p>
                      <a:pPr>
                        <a:buNone/>
                      </a:pPr>
                      <a:r>
                        <a:rPr lang="en-US" dirty="0"/>
                        <a:t>The </a:t>
                      </a:r>
                      <a:r>
                        <a:rPr lang="en-US" b="1" dirty="0"/>
                        <a:t>peak stress value (maximum)</a:t>
                      </a:r>
                      <a:r>
                        <a:rPr lang="en-US" dirty="0"/>
                        <a:t> recorded on the stress-strain curve before the onset of necking/failure.</a:t>
                      </a:r>
                      <a:endParaRPr lang="en-US" dirty="0"/>
                    </a:p>
                  </a:txBody>
                  <a:tcPr anchor="ctr"/>
                </a:tc>
                <a:tc>
                  <a:txBody>
                    <a:bodyPr/>
                    <a:lstStyle/>
                    <a:p>
                      <a:r>
                        <a:rPr lang="en-IN" dirty="0" err="1"/>
                        <a:t>uts</a:t>
                      </a:r>
                      <a:endParaRPr lang="en-IN" dirty="0"/>
                    </a:p>
                  </a:txBody>
                  <a:tcPr/>
                </a:tc>
              </a:tr>
            </a:tbl>
          </a:graphicData>
        </a:graphic>
      </p:graphicFrame>
      <p:sp>
        <p:nvSpPr>
          <p:cNvPr id="15" name="TextBox 14"/>
          <p:cNvSpPr txBox="1"/>
          <p:nvPr/>
        </p:nvSpPr>
        <p:spPr>
          <a:xfrm>
            <a:off x="531845" y="1054359"/>
            <a:ext cx="7063273" cy="707886"/>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The raw stress-strain curve data is then analyzed to extract the target mechanical properties</a:t>
            </a:r>
            <a:endParaRPr lang="en-IN" sz="2000" dirty="0"/>
          </a:p>
        </p:txBody>
      </p:sp>
      <p:graphicFrame>
        <p:nvGraphicFramePr>
          <p:cNvPr id="16" name="Table 15"/>
          <p:cNvGraphicFramePr>
            <a:graphicFrameLocks noGrp="1"/>
          </p:cNvGraphicFramePr>
          <p:nvPr/>
        </p:nvGraphicFramePr>
        <p:xfrm>
          <a:off x="9430139" y="1391405"/>
          <a:ext cx="2230016" cy="370840"/>
        </p:xfrm>
        <a:graphic>
          <a:graphicData uri="http://schemas.openxmlformats.org/drawingml/2006/table">
            <a:tbl>
              <a:tblPr firstRow="1" bandRow="1">
                <a:tableStyleId>{5C22544A-7EE6-4342-B048-85BDC9FD1C3A}</a:tableStyleId>
              </a:tblPr>
              <a:tblGrid>
                <a:gridCol w="2230016"/>
              </a:tblGrid>
              <a:tr h="370840">
                <a:tc>
                  <a:txBody>
                    <a:bodyPr/>
                    <a:lstStyle/>
                    <a:p>
                      <a:pPr algn="ctr"/>
                      <a:r>
                        <a:rPr lang="en-US" dirty="0">
                          <a:solidFill>
                            <a:schemeClr val="tx1"/>
                          </a:solidFill>
                        </a:rPr>
                        <a:t>DATASET</a:t>
                      </a:r>
                      <a:endParaRPr lang="en-IN" dirty="0">
                        <a:solidFill>
                          <a:schemeClr val="tx1"/>
                        </a:solidFill>
                      </a:endParaRPr>
                    </a:p>
                  </a:txBody>
                  <a:tcPr>
                    <a:solidFill>
                      <a:schemeClr val="bg2"/>
                    </a:solidFill>
                  </a:tcPr>
                </a:tc>
              </a:tr>
            </a:tbl>
          </a:graphicData>
        </a:graphic>
      </p:graphicFrame>
      <p:cxnSp>
        <p:nvCxnSpPr>
          <p:cNvPr id="18" name="Straight Arrow Connector 17"/>
          <p:cNvCxnSpPr/>
          <p:nvPr/>
        </p:nvCxnSpPr>
        <p:spPr>
          <a:xfrm>
            <a:off x="10571584" y="1828800"/>
            <a:ext cx="0" cy="1026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9456576" y="2855167"/>
          <a:ext cx="2230016" cy="370840"/>
        </p:xfrm>
        <a:graphic>
          <a:graphicData uri="http://schemas.openxmlformats.org/drawingml/2006/table">
            <a:tbl>
              <a:tblPr firstRow="1" bandRow="1">
                <a:tableStyleId>{5C22544A-7EE6-4342-B048-85BDC9FD1C3A}</a:tableStyleId>
              </a:tblPr>
              <a:tblGrid>
                <a:gridCol w="2230016"/>
              </a:tblGrid>
              <a:tr h="370840">
                <a:tc>
                  <a:txBody>
                    <a:bodyPr/>
                    <a:lstStyle/>
                    <a:p>
                      <a:pPr algn="ctr"/>
                      <a:r>
                        <a:rPr lang="en-US" dirty="0">
                          <a:solidFill>
                            <a:schemeClr val="tx1"/>
                          </a:solidFill>
                        </a:rPr>
                        <a:t>Train Data (80%)</a:t>
                      </a:r>
                      <a:endParaRPr lang="en-IN" dirty="0">
                        <a:solidFill>
                          <a:schemeClr val="tx1"/>
                        </a:solidFill>
                      </a:endParaRPr>
                    </a:p>
                  </a:txBody>
                  <a:tcPr>
                    <a:solidFill>
                      <a:schemeClr val="bg2"/>
                    </a:solidFill>
                  </a:tcPr>
                </a:tc>
              </a:tr>
            </a:tbl>
          </a:graphicData>
        </a:graphic>
      </p:graphicFrame>
      <p:cxnSp>
        <p:nvCxnSpPr>
          <p:cNvPr id="23" name="Straight Arrow Connector 22"/>
          <p:cNvCxnSpPr/>
          <p:nvPr/>
        </p:nvCxnSpPr>
        <p:spPr>
          <a:xfrm>
            <a:off x="10571584" y="3226007"/>
            <a:ext cx="0" cy="1178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24"/>
          <p:cNvGraphicFramePr>
            <a:graphicFrameLocks noGrp="1"/>
          </p:cNvGraphicFramePr>
          <p:nvPr/>
        </p:nvGraphicFramePr>
        <p:xfrm>
          <a:off x="9456576" y="4404049"/>
          <a:ext cx="2230016" cy="370840"/>
        </p:xfrm>
        <a:graphic>
          <a:graphicData uri="http://schemas.openxmlformats.org/drawingml/2006/table">
            <a:tbl>
              <a:tblPr firstRow="1" bandRow="1">
                <a:tableStyleId>{5C22544A-7EE6-4342-B048-85BDC9FD1C3A}</a:tableStyleId>
              </a:tblPr>
              <a:tblGrid>
                <a:gridCol w="2230016"/>
              </a:tblGrid>
              <a:tr h="370840">
                <a:tc>
                  <a:txBody>
                    <a:bodyPr/>
                    <a:lstStyle/>
                    <a:p>
                      <a:pPr algn="ctr"/>
                      <a:r>
                        <a:rPr lang="en-US" dirty="0">
                          <a:solidFill>
                            <a:schemeClr val="tx1"/>
                          </a:solidFill>
                        </a:rPr>
                        <a:t>Test Data (20%)</a:t>
                      </a:r>
                      <a:endParaRPr lang="en-IN" dirty="0">
                        <a:solidFill>
                          <a:schemeClr val="tx1"/>
                        </a:solidFill>
                      </a:endParaRPr>
                    </a:p>
                  </a:txBody>
                  <a:tcPr>
                    <a:solidFill>
                      <a:schemeClr val="bg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8FBEC28E-4BEC-434E-A174-17C0E8C4B2B2}" type="slidenum">
              <a:rPr lang="en-US" smtClean="0"/>
            </a:fld>
            <a:endParaRPr lang="en-US" dirty="0"/>
          </a:p>
        </p:txBody>
      </p:sp>
      <p:sp>
        <p:nvSpPr>
          <p:cNvPr id="6" name="Text Box 5"/>
          <p:cNvSpPr txBox="1"/>
          <p:nvPr/>
        </p:nvSpPr>
        <p:spPr>
          <a:xfrm>
            <a:off x="950595" y="1295083"/>
            <a:ext cx="5080000" cy="829945"/>
          </a:xfrm>
          <a:prstGeom prst="rect">
            <a:avLst/>
          </a:prstGeom>
        </p:spPr>
        <p:txBody>
          <a:bodyPr>
            <a:spAutoFit/>
          </a:bodyPr>
          <a:p>
            <a:pPr marL="0" indent="0" algn="l" fontAlgn="base">
              <a:spcBef>
                <a:spcPct val="0"/>
              </a:spcBef>
              <a:spcAft>
                <a:spcPct val="0"/>
              </a:spcAft>
            </a:pPr>
            <a:r>
              <a:rPr sz="2400" b="1" i="0">
                <a:solidFill>
                  <a:srgbClr val="FF0000"/>
                </a:solidFill>
                <a:latin typeface="Source Sans 3" charset="0"/>
                <a:ea typeface="Source Sans 3"/>
              </a:rPr>
              <a:t>Support Vector Machine </a:t>
            </a:r>
            <a:r>
              <a:rPr sz="2400" b="1" i="0">
                <a:solidFill>
                  <a:srgbClr val="273239"/>
                </a:solidFill>
                <a:latin typeface="Source Sans 3" charset="0"/>
                <a:ea typeface="Source Sans 3"/>
              </a:rPr>
              <a:t>(</a:t>
            </a:r>
            <a:r>
              <a:rPr sz="2400" b="1" i="0">
                <a:solidFill>
                  <a:srgbClr val="FF0000"/>
                </a:solidFill>
                <a:latin typeface="Source Sans 3" charset="0"/>
                <a:ea typeface="Source Sans 3"/>
              </a:rPr>
              <a:t>SVM</a:t>
            </a:r>
            <a:r>
              <a:rPr sz="2400" b="1" i="0">
                <a:solidFill>
                  <a:srgbClr val="273239"/>
                </a:solidFill>
                <a:latin typeface="Source Sans 3" charset="0"/>
                <a:ea typeface="Source Sans 3"/>
              </a:rPr>
              <a:t>) </a:t>
            </a:r>
            <a:r>
              <a:rPr sz="2400" b="1" i="0">
                <a:solidFill>
                  <a:srgbClr val="FF0000"/>
                </a:solidFill>
                <a:latin typeface="Source Sans 3" charset="0"/>
                <a:ea typeface="Source Sans 3"/>
              </a:rPr>
              <a:t>Algorithm</a:t>
            </a:r>
            <a:endParaRPr sz="2400" b="1" i="0">
              <a:solidFill>
                <a:srgbClr val="FF0000"/>
              </a:solidFill>
              <a:latin typeface="Source Sans 3" charset="0"/>
              <a:ea typeface="Source Sans 3"/>
            </a:endParaRPr>
          </a:p>
        </p:txBody>
      </p:sp>
      <p:sp>
        <p:nvSpPr>
          <p:cNvPr id="7" name="Text Box 6"/>
          <p:cNvSpPr txBox="1"/>
          <p:nvPr/>
        </p:nvSpPr>
        <p:spPr>
          <a:xfrm>
            <a:off x="1144905" y="2305050"/>
            <a:ext cx="5227320" cy="3011805"/>
          </a:xfrm>
          <a:prstGeom prst="rect">
            <a:avLst/>
          </a:prstGeom>
        </p:spPr>
        <p:txBody>
          <a:bodyPr>
            <a:noAutofit/>
          </a:bodyPr>
          <a:p>
            <a:pPr marL="0" indent="0" algn="l" fontAlgn="base">
              <a:spcBef>
                <a:spcPct val="0"/>
              </a:spcBef>
              <a:spcAft>
                <a:spcPct val="0"/>
              </a:spcAft>
            </a:pPr>
            <a:r>
              <a:rPr sz="1600" b="0" i="0">
                <a:solidFill>
                  <a:srgbClr val="273239"/>
                </a:solidFill>
                <a:latin typeface="Nunito"/>
                <a:ea typeface="Nunito"/>
              </a:rPr>
              <a:t>Support Vector Machine (SVM) is a supervised machine learning algorithm used for classification and regression tasks. It tries to find the best boundary known as hyperplane that separates different classes in the data. It is useful when you want to do binary classification like spam vs. not spam or cat vs. dog.</a:t>
            </a:r>
            <a:endParaRPr sz="1600" b="0" i="0">
              <a:solidFill>
                <a:srgbClr val="273239"/>
              </a:solidFill>
              <a:latin typeface="Nunito"/>
              <a:ea typeface="Nunito"/>
            </a:endParaRPr>
          </a:p>
          <a:p>
            <a:pPr marL="0" indent="0" algn="l" fontAlgn="base">
              <a:spcBef>
                <a:spcPct val="0"/>
              </a:spcBef>
              <a:spcAft>
                <a:spcPct val="0"/>
              </a:spcAft>
            </a:pPr>
            <a:r>
              <a:rPr sz="1600" b="0" i="0">
                <a:solidFill>
                  <a:srgbClr val="273239"/>
                </a:solidFill>
                <a:latin typeface="Nunito"/>
                <a:ea typeface="Nunito"/>
              </a:rPr>
              <a:t>The main goal of SVM is to maximize the margin between the two classes. The larger the margin the better the model performs on new and unseen data.</a:t>
            </a:r>
            <a:endParaRPr sz="1600" b="0" i="0">
              <a:solidFill>
                <a:srgbClr val="273239"/>
              </a:solidFill>
              <a:latin typeface="Nunito"/>
              <a:ea typeface="Nunito"/>
            </a:endParaRPr>
          </a:p>
        </p:txBody>
      </p:sp>
      <p:pic>
        <p:nvPicPr>
          <p:cNvPr id="8" name="Picture 7"/>
          <p:cNvPicPr>
            <a:picLocks noChangeAspect="1"/>
          </p:cNvPicPr>
          <p:nvPr/>
        </p:nvPicPr>
        <p:blipFill>
          <a:blip r:embed="rId1"/>
          <a:stretch>
            <a:fillRect/>
          </a:stretch>
        </p:blipFill>
        <p:spPr>
          <a:xfrm>
            <a:off x="7107555" y="1746885"/>
            <a:ext cx="3348355" cy="3181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EC28E-4BEC-434E-A174-17C0E8C4B2B2}" type="slidenum">
              <a:rPr lang="en-US" smtClean="0"/>
            </a:fld>
            <a:endParaRPr lang="en-US" dirty="0"/>
          </a:p>
        </p:txBody>
      </p:sp>
      <p:sp>
        <p:nvSpPr>
          <p:cNvPr id="14" name="TextBox 13"/>
          <p:cNvSpPr txBox="1"/>
          <p:nvPr/>
        </p:nvSpPr>
        <p:spPr>
          <a:xfrm>
            <a:off x="347196" y="903041"/>
            <a:ext cx="2163445" cy="460375"/>
          </a:xfrm>
          <a:prstGeom prst="rect">
            <a:avLst/>
          </a:prstGeom>
          <a:noFill/>
        </p:spPr>
        <p:txBody>
          <a:bodyPr wrap="none" rtlCol="0">
            <a:spAutoFit/>
          </a:bodyPr>
          <a:lstStyle/>
          <a:p>
            <a:r>
              <a:rPr lang="en-US" sz="2400" b="1" dirty="0">
                <a:solidFill>
                  <a:srgbClr val="011893"/>
                </a:solidFill>
              </a:rPr>
              <a:t> Random Forest</a:t>
            </a:r>
            <a:endParaRPr lang="en-IN" sz="2400" b="1" dirty="0">
              <a:solidFill>
                <a:srgbClr val="011893"/>
              </a:solidFill>
            </a:endParaRPr>
          </a:p>
        </p:txBody>
      </p:sp>
      <p:pic>
        <p:nvPicPr>
          <p:cNvPr id="16" name="Picture 15"/>
          <p:cNvPicPr>
            <a:picLocks noChangeAspect="1"/>
          </p:cNvPicPr>
          <p:nvPr/>
        </p:nvPicPr>
        <p:blipFill>
          <a:blip r:embed="rId1"/>
          <a:stretch>
            <a:fillRect/>
          </a:stretch>
        </p:blipFill>
        <p:spPr>
          <a:xfrm>
            <a:off x="937677" y="4137631"/>
            <a:ext cx="3799632" cy="928318"/>
          </a:xfrm>
          <a:prstGeom prst="rect">
            <a:avLst/>
          </a:prstGeom>
        </p:spPr>
      </p:pic>
      <p:pic>
        <p:nvPicPr>
          <p:cNvPr id="1028" name="Picture 4" descr="Everything about Random Forest. Random Forest is one of the most… | by  Abhishek Jain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903041"/>
            <a:ext cx="5961320" cy="50592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23875" y="1473837"/>
            <a:ext cx="5027236"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t>An ensemble learning algorithm that combines multiple decision trees to improve accuracy and reduce overfitting.</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model’s performance is evaluated using Mean Squared Error (MSE):</a:t>
            </a:r>
            <a:endParaRPr lang="en-IN" dirty="0"/>
          </a:p>
        </p:txBody>
      </p:sp>
      <p:sp>
        <p:nvSpPr>
          <p:cNvPr id="6" name="TextBox 5"/>
          <p:cNvSpPr txBox="1"/>
          <p:nvPr/>
        </p:nvSpPr>
        <p:spPr>
          <a:xfrm>
            <a:off x="323875" y="58981"/>
            <a:ext cx="6116216" cy="584775"/>
          </a:xfrm>
          <a:prstGeom prst="rect">
            <a:avLst/>
          </a:prstGeom>
          <a:noFill/>
        </p:spPr>
        <p:txBody>
          <a:bodyPr wrap="square">
            <a:spAutoFit/>
          </a:bodyPr>
          <a:lstStyle/>
          <a:p>
            <a:r>
              <a:rPr lang="en-US" sz="3200" b="1" dirty="0">
                <a:solidFill>
                  <a:srgbClr val="FF0000"/>
                </a:solidFill>
              </a:rPr>
              <a:t>Models Training and Evaluation</a:t>
            </a:r>
            <a:endParaRPr lang="en-US" sz="3200"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8FBEC28E-4BEC-434E-A174-17C0E8C4B2B2}" type="slidenum">
              <a:rPr lang="en-US" smtClean="0"/>
            </a:fld>
            <a:endParaRPr lang="en-US" dirty="0"/>
          </a:p>
        </p:txBody>
      </p:sp>
      <p:sp>
        <p:nvSpPr>
          <p:cNvPr id="4" name="Text Box 3"/>
          <p:cNvSpPr txBox="1"/>
          <p:nvPr/>
        </p:nvSpPr>
        <p:spPr>
          <a:xfrm>
            <a:off x="1200150" y="1579880"/>
            <a:ext cx="6096000" cy="645160"/>
          </a:xfrm>
          <a:prstGeom prst="rect">
            <a:avLst/>
          </a:prstGeom>
          <a:noFill/>
        </p:spPr>
        <p:txBody>
          <a:bodyPr wrap="square" rtlCol="0" anchor="t">
            <a:spAutoFit/>
          </a:bodyPr>
          <a:p>
            <a:r>
              <a:rPr sz="3600">
                <a:solidFill>
                  <a:srgbClr val="FF0000"/>
                </a:solidFill>
                <a:latin typeface="Roboto"/>
                <a:ea typeface="Roboto"/>
                <a:sym typeface="+mn-ea"/>
              </a:rPr>
              <a:t>Gradient Boosting</a:t>
            </a:r>
            <a:endParaRPr lang="en-US" sz="3600">
              <a:solidFill>
                <a:srgbClr val="FF0000"/>
              </a:solidFill>
              <a:latin typeface="Roboto"/>
              <a:ea typeface="Roboto"/>
              <a:sym typeface="+mn-ea"/>
            </a:endParaRPr>
          </a:p>
        </p:txBody>
      </p:sp>
      <p:sp>
        <p:nvSpPr>
          <p:cNvPr id="5" name="Text Box 4"/>
          <p:cNvSpPr txBox="1"/>
          <p:nvPr/>
        </p:nvSpPr>
        <p:spPr>
          <a:xfrm>
            <a:off x="991235" y="2870835"/>
            <a:ext cx="6096000" cy="1836420"/>
          </a:xfrm>
          <a:prstGeom prst="rect">
            <a:avLst/>
          </a:prstGeom>
          <a:noFill/>
        </p:spPr>
        <p:txBody>
          <a:bodyPr wrap="square" rtlCol="0">
            <a:noAutofit/>
          </a:bodyPr>
          <a:p>
            <a:pPr marL="0" indent="0"/>
            <a:r>
              <a:rPr sz="2400">
                <a:latin typeface="Roboto"/>
                <a:ea typeface="Roboto"/>
                <a:sym typeface="+mn-ea"/>
              </a:rPr>
              <a:t>Gradient Boosting is a </a:t>
            </a:r>
            <a:r>
              <a:rPr sz="2400" b="1">
                <a:latin typeface="Roboto"/>
                <a:ea typeface="Roboto"/>
                <a:sym typeface="+mn-ea"/>
              </a:rPr>
              <a:t>machine learning ensemble technique</a:t>
            </a:r>
            <a:r>
              <a:rPr sz="2400">
                <a:latin typeface="Roboto"/>
                <a:ea typeface="Roboto"/>
                <a:sym typeface="+mn-ea"/>
              </a:rPr>
              <a:t> used for both classification and regression tasks. It builds a strong predictive model by combining multiple weak learners, typically decision trees, in a sequential manner. Each new model is trained to correct the errors of its predecessor, gradually improving the overall performance.</a:t>
            </a:r>
            <a:endParaRPr sz="2400">
              <a:latin typeface="Roboto"/>
              <a:ea typeface="Roboto"/>
            </a:endParaRPr>
          </a:p>
        </p:txBody>
      </p:sp>
      <p:pic>
        <p:nvPicPr>
          <p:cNvPr id="6" name="Picture 5"/>
          <p:cNvPicPr>
            <a:picLocks noChangeAspect="1"/>
          </p:cNvPicPr>
          <p:nvPr/>
        </p:nvPicPr>
        <p:blipFill>
          <a:blip r:embed="rId1"/>
          <a:stretch>
            <a:fillRect/>
          </a:stretch>
        </p:blipFill>
        <p:spPr>
          <a:xfrm>
            <a:off x="7419340" y="2870835"/>
            <a:ext cx="3922395" cy="2240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292083" y="1065797"/>
          <a:ext cx="1987420" cy="396240"/>
        </p:xfrm>
        <a:graphic>
          <a:graphicData uri="http://schemas.openxmlformats.org/drawingml/2006/table">
            <a:tbl>
              <a:tblPr firstRow="1" bandRow="1">
                <a:tableStyleId>{5C22544A-7EE6-4342-B048-85BDC9FD1C3A}</a:tableStyleId>
              </a:tblPr>
              <a:tblGrid>
                <a:gridCol w="1987420"/>
              </a:tblGrid>
              <a:tr h="370840">
                <a:tc>
                  <a:txBody>
                    <a:bodyPr/>
                    <a:lstStyle/>
                    <a:p>
                      <a:pPr algn="ctr"/>
                      <a:r>
                        <a:rPr lang="en-US" dirty="0">
                          <a:solidFill>
                            <a:schemeClr val="tx1"/>
                          </a:solidFill>
                        </a:rPr>
                        <a:t>Raw </a:t>
                      </a:r>
                      <a:r>
                        <a:rPr lang="en-US" sz="2000" dirty="0">
                          <a:solidFill>
                            <a:schemeClr val="tx1"/>
                          </a:solidFill>
                        </a:rPr>
                        <a:t>Data</a:t>
                      </a:r>
                      <a:endParaRPr lang="en-IN" sz="2000" dirty="0">
                        <a:solidFill>
                          <a:schemeClr val="tx1"/>
                        </a:solidFill>
                      </a:endParaRPr>
                    </a:p>
                  </a:txBody>
                  <a:tcPr/>
                </a:tc>
              </a:tr>
            </a:tbl>
          </a:graphicData>
        </a:graphic>
      </p:graphicFrame>
      <p:cxnSp>
        <p:nvCxnSpPr>
          <p:cNvPr id="10" name="Straight Arrow Connector 9"/>
          <p:cNvCxnSpPr/>
          <p:nvPr/>
        </p:nvCxnSpPr>
        <p:spPr>
          <a:xfrm>
            <a:off x="5211149" y="1420689"/>
            <a:ext cx="0" cy="354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le 10"/>
          <p:cNvGraphicFramePr>
            <a:graphicFrameLocks noGrp="1"/>
          </p:cNvGraphicFramePr>
          <p:nvPr/>
        </p:nvGraphicFramePr>
        <p:xfrm>
          <a:off x="3805854" y="1775252"/>
          <a:ext cx="2959878" cy="396240"/>
        </p:xfrm>
        <a:graphic>
          <a:graphicData uri="http://schemas.openxmlformats.org/drawingml/2006/table">
            <a:tbl>
              <a:tblPr firstRow="1" bandRow="1">
                <a:tableStyleId>{5C22544A-7EE6-4342-B048-85BDC9FD1C3A}</a:tableStyleId>
              </a:tblPr>
              <a:tblGrid>
                <a:gridCol w="2959878"/>
              </a:tblGrid>
              <a:tr h="396240">
                <a:tc>
                  <a:txBody>
                    <a:bodyPr/>
                    <a:lstStyle/>
                    <a:p>
                      <a:pPr algn="ctr"/>
                      <a:r>
                        <a:rPr lang="en-US" dirty="0">
                          <a:solidFill>
                            <a:schemeClr val="tx1"/>
                          </a:solidFill>
                        </a:rPr>
                        <a:t>Data Normalization(scaling)</a:t>
                      </a:r>
                      <a:endParaRPr lang="en-IN" dirty="0">
                        <a:solidFill>
                          <a:schemeClr val="tx1"/>
                        </a:solidFill>
                      </a:endParaRPr>
                    </a:p>
                  </a:txBody>
                  <a:tcPr/>
                </a:tc>
              </a:tr>
            </a:tbl>
          </a:graphicData>
        </a:graphic>
      </p:graphicFrame>
      <p:graphicFrame>
        <p:nvGraphicFramePr>
          <p:cNvPr id="14" name="Table 13"/>
          <p:cNvGraphicFramePr>
            <a:graphicFrameLocks noGrp="1"/>
          </p:cNvGraphicFramePr>
          <p:nvPr/>
        </p:nvGraphicFramePr>
        <p:xfrm>
          <a:off x="4292083" y="2484707"/>
          <a:ext cx="1987420" cy="365760"/>
        </p:xfrm>
        <a:graphic>
          <a:graphicData uri="http://schemas.openxmlformats.org/drawingml/2006/table">
            <a:tbl>
              <a:tblPr firstRow="1" bandRow="1">
                <a:tableStyleId>{5C22544A-7EE6-4342-B048-85BDC9FD1C3A}</a:tableStyleId>
              </a:tblPr>
              <a:tblGrid>
                <a:gridCol w="1987420"/>
              </a:tblGrid>
              <a:tr h="0">
                <a:tc>
                  <a:txBody>
                    <a:bodyPr/>
                    <a:lstStyle/>
                    <a:p>
                      <a:r>
                        <a:rPr lang="en-US" dirty="0">
                          <a:solidFill>
                            <a:schemeClr val="tx1"/>
                          </a:solidFill>
                        </a:rPr>
                        <a:t>Splitting Strategy</a:t>
                      </a:r>
                      <a:endParaRPr lang="en-IN" dirty="0">
                        <a:solidFill>
                          <a:schemeClr val="tx1"/>
                        </a:solidFill>
                      </a:endParaRPr>
                    </a:p>
                  </a:txBody>
                  <a:tcPr/>
                </a:tc>
              </a:tr>
            </a:tbl>
          </a:graphicData>
        </a:graphic>
      </p:graphicFrame>
      <p:cxnSp>
        <p:nvCxnSpPr>
          <p:cNvPr id="15" name="Straight Arrow Connector 14"/>
          <p:cNvCxnSpPr/>
          <p:nvPr/>
        </p:nvCxnSpPr>
        <p:spPr>
          <a:xfrm>
            <a:off x="5204931" y="2130144"/>
            <a:ext cx="0" cy="354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nvGraphicFramePr>
        <p:xfrm>
          <a:off x="4616579" y="3428999"/>
          <a:ext cx="2577322" cy="2104053"/>
        </p:xfrm>
        <a:graphic>
          <a:graphicData uri="http://schemas.openxmlformats.org/drawingml/2006/table">
            <a:tbl>
              <a:tblPr firstRow="1" bandRow="1">
                <a:tableStyleId>{5C22544A-7EE6-4342-B048-85BDC9FD1C3A}</a:tableStyleId>
              </a:tblPr>
              <a:tblGrid>
                <a:gridCol w="2577322"/>
              </a:tblGrid>
              <a:tr h="701351">
                <a:tc>
                  <a:txBody>
                    <a:bodyPr/>
                    <a:lstStyle/>
                    <a:p>
                      <a:r>
                        <a:rPr lang="en-US" sz="1800" dirty="0">
                          <a:solidFill>
                            <a:schemeClr val="tx1"/>
                          </a:solidFill>
                        </a:rPr>
                        <a:t>Target 2: yield Strength</a:t>
                      </a:r>
                      <a:endParaRPr lang="en-IN" sz="1800" dirty="0">
                        <a:solidFill>
                          <a:schemeClr val="tx1"/>
                        </a:solidFill>
                      </a:endParaRPr>
                    </a:p>
                  </a:txBody>
                  <a:tcPr/>
                </a:tc>
              </a:tr>
              <a:tr h="701351">
                <a:tc>
                  <a:txBody>
                    <a:bodyPr/>
                    <a:lstStyle/>
                    <a:p>
                      <a:r>
                        <a:rPr lang="en-IN" altLang="en-US" dirty="0"/>
                        <a:t>SVM </a:t>
                      </a:r>
                      <a:r>
                        <a:rPr lang="en-US" dirty="0"/>
                        <a:t>Model</a:t>
                      </a:r>
                      <a:endParaRPr lang="en-IN" dirty="0"/>
                    </a:p>
                  </a:txBody>
                  <a:tcPr/>
                </a:tc>
              </a:tr>
              <a:tr h="701351">
                <a:tc>
                  <a:txBody>
                    <a:bodyPr/>
                    <a:lstStyle/>
                    <a:p>
                      <a:r>
                        <a:rPr lang="en-US" dirty="0"/>
                        <a:t>Random Forest Model</a:t>
                      </a:r>
                      <a:endParaRPr lang="en-IN" dirty="0"/>
                    </a:p>
                  </a:txBody>
                  <a:tcPr/>
                </a:tc>
              </a:tr>
            </a:tbl>
          </a:graphicData>
        </a:graphic>
      </p:graphicFrame>
      <p:graphicFrame>
        <p:nvGraphicFramePr>
          <p:cNvPr id="17" name="Table 16"/>
          <p:cNvGraphicFramePr>
            <a:graphicFrameLocks noGrp="1"/>
          </p:cNvGraphicFramePr>
          <p:nvPr/>
        </p:nvGraphicFramePr>
        <p:xfrm>
          <a:off x="7443755" y="3428998"/>
          <a:ext cx="2875902" cy="2104053"/>
        </p:xfrm>
        <a:graphic>
          <a:graphicData uri="http://schemas.openxmlformats.org/drawingml/2006/table">
            <a:tbl>
              <a:tblPr firstRow="1" bandRow="1">
                <a:tableStyleId>{5C22544A-7EE6-4342-B048-85BDC9FD1C3A}</a:tableStyleId>
              </a:tblPr>
              <a:tblGrid>
                <a:gridCol w="2875902"/>
              </a:tblGrid>
              <a:tr h="701351">
                <a:tc>
                  <a:txBody>
                    <a:bodyPr/>
                    <a:lstStyle/>
                    <a:p>
                      <a:r>
                        <a:rPr lang="en-US" dirty="0">
                          <a:solidFill>
                            <a:schemeClr val="tx1"/>
                          </a:solidFill>
                        </a:rPr>
                        <a:t>Target 3: UTS</a:t>
                      </a:r>
                      <a:endParaRPr lang="en-IN" dirty="0">
                        <a:solidFill>
                          <a:schemeClr val="tx1"/>
                        </a:solidFill>
                      </a:endParaRPr>
                    </a:p>
                  </a:txBody>
                  <a:tcPr/>
                </a:tc>
              </a:tr>
              <a:tr h="701351">
                <a:tc>
                  <a:txBody>
                    <a:bodyPr/>
                    <a:lstStyle/>
                    <a:p>
                      <a:r>
                        <a:rPr lang="en-IN" altLang="en-US" dirty="0"/>
                        <a:t>SVM</a:t>
                      </a:r>
                      <a:r>
                        <a:rPr lang="en-US" dirty="0"/>
                        <a:t> Model</a:t>
                      </a:r>
                      <a:endParaRPr lang="en-IN" dirty="0"/>
                    </a:p>
                  </a:txBody>
                  <a:tcPr/>
                </a:tc>
              </a:tr>
              <a:tr h="701351">
                <a:tc>
                  <a:txBody>
                    <a:bodyPr/>
                    <a:lstStyle/>
                    <a:p>
                      <a:r>
                        <a:rPr lang="en-US" dirty="0"/>
                        <a:t>Random Forest Model</a:t>
                      </a:r>
                      <a:endParaRPr lang="en-IN" dirty="0"/>
                    </a:p>
                  </a:txBody>
                  <a:tcPr/>
                </a:tc>
              </a:tr>
            </a:tbl>
          </a:graphicData>
        </a:graphic>
      </p:graphicFrame>
      <p:graphicFrame>
        <p:nvGraphicFramePr>
          <p:cNvPr id="18" name="Table 17"/>
          <p:cNvGraphicFramePr>
            <a:graphicFrameLocks noGrp="1"/>
          </p:cNvGraphicFramePr>
          <p:nvPr/>
        </p:nvGraphicFramePr>
        <p:xfrm>
          <a:off x="1602792" y="3428998"/>
          <a:ext cx="2689291" cy="2104053"/>
        </p:xfrm>
        <a:graphic>
          <a:graphicData uri="http://schemas.openxmlformats.org/drawingml/2006/table">
            <a:tbl>
              <a:tblPr firstRow="1" bandRow="1">
                <a:tableStyleId>{5C22544A-7EE6-4342-B048-85BDC9FD1C3A}</a:tableStyleId>
              </a:tblPr>
              <a:tblGrid>
                <a:gridCol w="2689291"/>
              </a:tblGrid>
              <a:tr h="701351">
                <a:tc>
                  <a:txBody>
                    <a:bodyPr/>
                    <a:lstStyle/>
                    <a:p>
                      <a:r>
                        <a:rPr lang="en-US" dirty="0">
                          <a:solidFill>
                            <a:schemeClr val="tx1"/>
                          </a:solidFill>
                        </a:rPr>
                        <a:t>Target 1: Young’s Modulus</a:t>
                      </a:r>
                      <a:endParaRPr lang="en-IN" dirty="0">
                        <a:solidFill>
                          <a:schemeClr val="tx1"/>
                        </a:solidFill>
                      </a:endParaRPr>
                    </a:p>
                  </a:txBody>
                  <a:tcPr/>
                </a:tc>
              </a:tr>
              <a:tr h="701351">
                <a:tc>
                  <a:txBody>
                    <a:bodyPr/>
                    <a:lstStyle/>
                    <a:p>
                      <a:r>
                        <a:rPr lang="en-IN" altLang="en-US" dirty="0"/>
                        <a:t>SVM </a:t>
                      </a:r>
                      <a:r>
                        <a:rPr lang="en-US" dirty="0"/>
                        <a:t>Model</a:t>
                      </a:r>
                      <a:endParaRPr lang="en-IN" dirty="0"/>
                    </a:p>
                  </a:txBody>
                  <a:tcPr/>
                </a:tc>
              </a:tr>
              <a:tr h="701351">
                <a:tc>
                  <a:txBody>
                    <a:bodyPr/>
                    <a:lstStyle/>
                    <a:p>
                      <a:r>
                        <a:rPr lang="en-US" dirty="0"/>
                        <a:t>Random Forest Model</a:t>
                      </a:r>
                      <a:endParaRPr lang="en-IN" dirty="0"/>
                    </a:p>
                  </a:txBody>
                  <a:tcPr/>
                </a:tc>
              </a:tr>
            </a:tbl>
          </a:graphicData>
        </a:graphic>
      </p:graphicFrame>
      <p:graphicFrame>
        <p:nvGraphicFramePr>
          <p:cNvPr id="19" name="Table 18"/>
          <p:cNvGraphicFramePr>
            <a:graphicFrameLocks noGrp="1"/>
          </p:cNvGraphicFramePr>
          <p:nvPr/>
        </p:nvGraphicFramePr>
        <p:xfrm>
          <a:off x="502830" y="2347547"/>
          <a:ext cx="2591828" cy="640080"/>
        </p:xfrm>
        <a:graphic>
          <a:graphicData uri="http://schemas.openxmlformats.org/drawingml/2006/table">
            <a:tbl>
              <a:tblPr firstRow="1" bandRow="1">
                <a:tableStyleId>{5C22544A-7EE6-4342-B048-85BDC9FD1C3A}</a:tableStyleId>
              </a:tblPr>
              <a:tblGrid>
                <a:gridCol w="2591828"/>
              </a:tblGrid>
              <a:tr h="370840">
                <a:tc>
                  <a:txBody>
                    <a:bodyPr/>
                    <a:lstStyle/>
                    <a:p>
                      <a:pPr algn="ctr"/>
                      <a:r>
                        <a:rPr lang="en-US" dirty="0">
                          <a:solidFill>
                            <a:schemeClr val="tx1"/>
                          </a:solidFill>
                        </a:rPr>
                        <a:t>Single Train-Test Split</a:t>
                      </a:r>
                      <a:br>
                        <a:rPr lang="en-US" dirty="0">
                          <a:solidFill>
                            <a:schemeClr val="tx1"/>
                          </a:solidFill>
                        </a:rPr>
                      </a:br>
                      <a:r>
                        <a:rPr lang="en-US" dirty="0">
                          <a:solidFill>
                            <a:schemeClr val="tx1"/>
                          </a:solidFill>
                        </a:rPr>
                        <a:t>    (</a:t>
                      </a:r>
                      <a:r>
                        <a:rPr lang="en-US" dirty="0" err="1">
                          <a:solidFill>
                            <a:schemeClr val="tx1"/>
                          </a:solidFill>
                        </a:rPr>
                        <a:t>e.g</a:t>
                      </a:r>
                      <a:r>
                        <a:rPr lang="en-US" dirty="0">
                          <a:solidFill>
                            <a:schemeClr val="tx1"/>
                          </a:solidFill>
                        </a:rPr>
                        <a:t> 80/20)</a:t>
                      </a:r>
                      <a:endParaRPr lang="en-IN" dirty="0">
                        <a:solidFill>
                          <a:schemeClr val="tx1"/>
                        </a:solidFill>
                      </a:endParaRPr>
                    </a:p>
                  </a:txBody>
                  <a:tcPr/>
                </a:tc>
              </a:tr>
            </a:tbl>
          </a:graphicData>
        </a:graphic>
      </p:graphicFrame>
      <p:graphicFrame>
        <p:nvGraphicFramePr>
          <p:cNvPr id="20" name="Table 19"/>
          <p:cNvGraphicFramePr>
            <a:graphicFrameLocks noGrp="1"/>
          </p:cNvGraphicFramePr>
          <p:nvPr/>
        </p:nvGraphicFramePr>
        <p:xfrm>
          <a:off x="4008016" y="5654381"/>
          <a:ext cx="3435739" cy="640080"/>
        </p:xfrm>
        <a:graphic>
          <a:graphicData uri="http://schemas.openxmlformats.org/drawingml/2006/table">
            <a:tbl>
              <a:tblPr firstRow="1" bandRow="1">
                <a:tableStyleId>{5C22544A-7EE6-4342-B048-85BDC9FD1C3A}</a:tableStyleId>
              </a:tblPr>
              <a:tblGrid>
                <a:gridCol w="3435739"/>
              </a:tblGrid>
              <a:tr h="485331">
                <a:tc>
                  <a:txBody>
                    <a:bodyPr/>
                    <a:lstStyle/>
                    <a:p>
                      <a:pPr algn="ctr"/>
                      <a:r>
                        <a:rPr lang="en-US" dirty="0">
                          <a:solidFill>
                            <a:schemeClr val="tx1"/>
                          </a:solidFill>
                        </a:rPr>
                        <a:t>Model Evaluation &amp; Comparison </a:t>
                      </a:r>
                      <a:br>
                        <a:rPr lang="en-US" dirty="0">
                          <a:solidFill>
                            <a:schemeClr val="tx1"/>
                          </a:solidFill>
                        </a:rPr>
                      </a:br>
                      <a:r>
                        <a:rPr lang="en-US" dirty="0">
                          <a:solidFill>
                            <a:schemeClr val="tx1"/>
                          </a:solidFill>
                        </a:rPr>
                        <a:t>    (Metrics: R^2,MSE,MAE)</a:t>
                      </a:r>
                      <a:endParaRPr lang="en-IN" dirty="0">
                        <a:solidFill>
                          <a:schemeClr val="tx1"/>
                        </a:solidFill>
                      </a:endParaRPr>
                    </a:p>
                  </a:txBody>
                  <a:tcPr/>
                </a:tc>
              </a:tr>
            </a:tbl>
          </a:graphicData>
        </a:graphic>
      </p:graphicFrame>
      <p:cxnSp>
        <p:nvCxnSpPr>
          <p:cNvPr id="22" name="Straight Arrow Connector 21"/>
          <p:cNvCxnSpPr>
            <a:endCxn id="14" idx="1"/>
          </p:cNvCxnSpPr>
          <p:nvPr/>
        </p:nvCxnSpPr>
        <p:spPr>
          <a:xfrm>
            <a:off x="3094658" y="2667587"/>
            <a:ext cx="1197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0" idx="0"/>
          </p:cNvCxnSpPr>
          <p:nvPr/>
        </p:nvCxnSpPr>
        <p:spPr>
          <a:xfrm>
            <a:off x="5725885" y="5327780"/>
            <a:ext cx="0" cy="326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279503" y="2667587"/>
            <a:ext cx="4805264" cy="66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1084767" y="2700728"/>
            <a:ext cx="0" cy="3273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7567127" y="5974421"/>
            <a:ext cx="35176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30" y="80908"/>
            <a:ext cx="3519714" cy="584775"/>
          </a:xfrm>
          <a:prstGeom prst="rect">
            <a:avLst/>
          </a:prstGeom>
          <a:noFill/>
        </p:spPr>
        <p:txBody>
          <a:bodyPr wrap="square" rtlCol="0">
            <a:spAutoFit/>
          </a:bodyPr>
          <a:lstStyle/>
          <a:p>
            <a:r>
              <a:rPr lang="en-US" sz="3200" b="1" dirty="0">
                <a:solidFill>
                  <a:srgbClr val="FF0000"/>
                </a:solidFill>
              </a:rPr>
              <a:t>ML Pipeline</a:t>
            </a:r>
            <a:endParaRPr lang="en-IN" sz="3200"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24766C8-FE37-C242-AED9-A550D3C7D878}" type="slidenum">
              <a:rPr lang="en-US" smtClean="0"/>
            </a:fld>
            <a:endParaRPr lang="en-US"/>
          </a:p>
        </p:txBody>
      </p:sp>
      <p:sp>
        <p:nvSpPr>
          <p:cNvPr id="3" name="Rectangle 2"/>
          <p:cNvSpPr/>
          <p:nvPr/>
        </p:nvSpPr>
        <p:spPr>
          <a:xfrm>
            <a:off x="-11077" y="681790"/>
            <a:ext cx="12192000" cy="83317"/>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p:cNvCxnSpPr/>
          <p:nvPr/>
        </p:nvCxnSpPr>
        <p:spPr>
          <a:xfrm>
            <a:off x="-20408"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05272" y="136209"/>
            <a:ext cx="3548407" cy="584775"/>
          </a:xfrm>
          <a:prstGeom prst="rect">
            <a:avLst/>
          </a:prstGeom>
          <a:noFill/>
        </p:spPr>
        <p:txBody>
          <a:bodyPr wrap="none" rtlCol="0">
            <a:spAutoFit/>
          </a:bodyPr>
          <a:lstStyle/>
          <a:p>
            <a:r>
              <a:rPr lang="en-US" sz="3200" b="1" dirty="0">
                <a:solidFill>
                  <a:srgbClr val="FF0000"/>
                </a:solidFill>
              </a:rPr>
              <a:t>Correlation - Matrix</a:t>
            </a:r>
            <a:endParaRPr lang="en-IN" sz="3200" b="1" dirty="0">
              <a:solidFill>
                <a:srgbClr val="FF0000"/>
              </a:solidFill>
            </a:endParaRPr>
          </a:p>
        </p:txBody>
      </p:sp>
      <p:pic>
        <p:nvPicPr>
          <p:cNvPr id="5" name="Picture 4"/>
          <p:cNvPicPr>
            <a:picLocks noChangeAspect="1"/>
          </p:cNvPicPr>
          <p:nvPr/>
        </p:nvPicPr>
        <p:blipFill>
          <a:blip r:embed="rId1"/>
          <a:srcRect l="644" t="167" r="-644" b="-167"/>
          <a:stretch>
            <a:fillRect/>
          </a:stretch>
        </p:blipFill>
        <p:spPr>
          <a:xfrm>
            <a:off x="706120" y="808355"/>
            <a:ext cx="10647680" cy="55448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p:cNvSpPr txBox="1"/>
          <p:nvPr/>
        </p:nvSpPr>
        <p:spPr>
          <a:xfrm>
            <a:off x="11828460" y="6447367"/>
            <a:ext cx="33655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24766C8-FE37-C242-AED9-A550D3C7D878}" type="slidenum">
              <a:rPr lang="en-US" sz="1800" b="1" smtClean="0">
                <a:solidFill>
                  <a:srgbClr val="691450"/>
                </a:solidFill>
              </a:rPr>
            </a:fld>
            <a:endParaRPr lang="en-US" sz="1800" b="1" dirty="0">
              <a:solidFill>
                <a:srgbClr val="691450"/>
              </a:solidFill>
            </a:endParaRPr>
          </a:p>
        </p:txBody>
      </p:sp>
      <p:cxnSp>
        <p:nvCxnSpPr>
          <p:cNvPr id="5" name="Straight Connector 4"/>
          <p:cNvCxnSpPr/>
          <p:nvPr/>
        </p:nvCxnSpPr>
        <p:spPr>
          <a:xfrm>
            <a:off x="-11077"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1077" y="681790"/>
            <a:ext cx="12192000" cy="83317"/>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flipH="1">
            <a:off x="893857" y="97015"/>
            <a:ext cx="1504109" cy="584775"/>
          </a:xfrm>
          <a:prstGeom prst="rect">
            <a:avLst/>
          </a:prstGeom>
          <a:noFill/>
        </p:spPr>
        <p:txBody>
          <a:bodyPr wrap="square" rtlCol="0">
            <a:spAutoFit/>
          </a:bodyPr>
          <a:lstStyle/>
          <a:p>
            <a:r>
              <a:rPr lang="en-US" sz="3200" b="1" dirty="0">
                <a:solidFill>
                  <a:srgbClr val="FF0000"/>
                </a:solidFill>
              </a:rPr>
              <a:t>Results</a:t>
            </a:r>
            <a:endParaRPr lang="en-IN" sz="3200" b="1" dirty="0">
              <a:solidFill>
                <a:srgbClr val="FF0000"/>
              </a:solidFill>
            </a:endParaRPr>
          </a:p>
        </p:txBody>
      </p:sp>
      <p:pic>
        <p:nvPicPr>
          <p:cNvPr id="8" name="Picture 7" descr="Screenshot 2025-11-02 111335"/>
          <p:cNvPicPr>
            <a:picLocks noChangeAspect="1"/>
          </p:cNvPicPr>
          <p:nvPr/>
        </p:nvPicPr>
        <p:blipFill>
          <a:blip r:embed="rId1"/>
          <a:stretch>
            <a:fillRect/>
          </a:stretch>
        </p:blipFill>
        <p:spPr>
          <a:xfrm>
            <a:off x="894080" y="1555115"/>
            <a:ext cx="9839325" cy="3981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20408"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1077" y="681790"/>
            <a:ext cx="12192000" cy="83317"/>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22514" y="29963"/>
            <a:ext cx="3312367" cy="584775"/>
          </a:xfrm>
          <a:prstGeom prst="rect">
            <a:avLst/>
          </a:prstGeom>
          <a:noFill/>
        </p:spPr>
        <p:txBody>
          <a:bodyPr wrap="square" rtlCol="0">
            <a:spAutoFit/>
          </a:bodyPr>
          <a:lstStyle/>
          <a:p>
            <a:r>
              <a:rPr lang="en-US" sz="3200" b="1" dirty="0">
                <a:solidFill>
                  <a:srgbClr val="FF0000"/>
                </a:solidFill>
              </a:rPr>
              <a:t>Plot Results</a:t>
            </a:r>
            <a:endParaRPr lang="en-IN" sz="3200" b="1" dirty="0">
              <a:solidFill>
                <a:srgbClr val="FF0000"/>
              </a:solidFill>
            </a:endParaRPr>
          </a:p>
        </p:txBody>
      </p:sp>
      <p:pic>
        <p:nvPicPr>
          <p:cNvPr id="2" name="Picture 1" descr="advanced_ml_comparison"/>
          <p:cNvPicPr>
            <a:picLocks noChangeAspect="1"/>
          </p:cNvPicPr>
          <p:nvPr/>
        </p:nvPicPr>
        <p:blipFill>
          <a:blip r:embed="rId1"/>
          <a:stretch>
            <a:fillRect/>
          </a:stretch>
        </p:blipFill>
        <p:spPr>
          <a:xfrm>
            <a:off x="231140" y="911860"/>
            <a:ext cx="11718290" cy="52800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522514" y="29963"/>
            <a:ext cx="3312367" cy="584775"/>
          </a:xfrm>
          <a:prstGeom prst="rect">
            <a:avLst/>
          </a:prstGeom>
          <a:noFill/>
        </p:spPr>
        <p:txBody>
          <a:bodyPr wrap="square" rtlCol="0">
            <a:spAutoFit/>
          </a:bodyPr>
          <a:lstStyle/>
          <a:p>
            <a:r>
              <a:rPr lang="en-US" sz="3200" b="1" dirty="0">
                <a:solidFill>
                  <a:srgbClr val="FF0000"/>
                </a:solidFill>
              </a:rPr>
              <a:t>Plot Results</a:t>
            </a:r>
            <a:endParaRPr lang="en-IN" sz="3200" b="1" dirty="0">
              <a:solidFill>
                <a:srgbClr val="FF0000"/>
              </a:solidFill>
            </a:endParaRPr>
          </a:p>
        </p:txBody>
      </p:sp>
      <p:sp>
        <p:nvSpPr>
          <p:cNvPr id="17" name="Rectangle 16"/>
          <p:cNvSpPr/>
          <p:nvPr/>
        </p:nvSpPr>
        <p:spPr>
          <a:xfrm>
            <a:off x="-11077" y="681790"/>
            <a:ext cx="12192000" cy="83317"/>
          </a:xfrm>
          <a:prstGeom prst="rect">
            <a:avLst/>
          </a:prstGeom>
          <a:solidFill>
            <a:srgbClr val="69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22514" y="998370"/>
            <a:ext cx="4988215" cy="829945"/>
          </a:xfrm>
          <a:prstGeom prst="rect">
            <a:avLst/>
          </a:prstGeom>
          <a:noFill/>
        </p:spPr>
        <p:txBody>
          <a:bodyPr wrap="square" rtlCol="0">
            <a:spAutoFit/>
          </a:bodyPr>
          <a:lstStyle/>
          <a:p>
            <a:pPr indent="0">
              <a:buFont typeface="Wingdings" panose="05000000000000000000" pitchFamily="2" charset="2"/>
              <a:buNone/>
            </a:pPr>
            <a:endParaRPr lang="en-IN" sz="2400" b="1" dirty="0">
              <a:solidFill>
                <a:srgbClr val="011893"/>
              </a:solidFill>
            </a:endParaRPr>
          </a:p>
          <a:p>
            <a:pPr marL="342900" indent="-342900">
              <a:buFont typeface="Wingdings" panose="05000000000000000000" pitchFamily="2" charset="2"/>
              <a:buChar char="Ø"/>
            </a:pPr>
            <a:endParaRPr lang="en-IN" sz="2400" b="1" dirty="0">
              <a:solidFill>
                <a:srgbClr val="011893"/>
              </a:solidFill>
            </a:endParaRPr>
          </a:p>
        </p:txBody>
      </p:sp>
      <p:cxnSp>
        <p:nvCxnSpPr>
          <p:cNvPr id="19" name="Straight Connector 18"/>
          <p:cNvCxnSpPr/>
          <p:nvPr/>
        </p:nvCxnSpPr>
        <p:spPr>
          <a:xfrm>
            <a:off x="-20408" y="6409475"/>
            <a:ext cx="12203077" cy="0"/>
          </a:xfrm>
          <a:prstGeom prst="line">
            <a:avLst/>
          </a:prstGeom>
          <a:ln w="38100">
            <a:solidFill>
              <a:srgbClr val="691450"/>
            </a:solidFill>
          </a:ln>
        </p:spPr>
        <p:style>
          <a:lnRef idx="1">
            <a:schemeClr val="accent1"/>
          </a:lnRef>
          <a:fillRef idx="0">
            <a:schemeClr val="accent1"/>
          </a:fillRef>
          <a:effectRef idx="0">
            <a:schemeClr val="accent1"/>
          </a:effectRef>
          <a:fontRef idx="minor">
            <a:schemeClr val="tx1"/>
          </a:fontRef>
        </p:style>
      </p:cxnSp>
      <p:pic>
        <p:nvPicPr>
          <p:cNvPr id="2" name="Picture 1" descr="minimization_plot"/>
          <p:cNvPicPr>
            <a:picLocks noChangeAspect="1"/>
          </p:cNvPicPr>
          <p:nvPr/>
        </p:nvPicPr>
        <p:blipFill>
          <a:blip r:embed="rId1"/>
          <a:stretch>
            <a:fillRect/>
          </a:stretch>
        </p:blipFill>
        <p:spPr>
          <a:xfrm>
            <a:off x="205740" y="987425"/>
            <a:ext cx="11847830" cy="5049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424766C8-FE37-C242-AED9-A550D3C7D878}" type="slidenum">
              <a:rPr lang="en-US" smtClean="0"/>
            </a:fld>
            <a:endParaRPr lang="en-US"/>
          </a:p>
        </p:txBody>
      </p:sp>
      <p:pic>
        <p:nvPicPr>
          <p:cNvPr id="4" name="Picture 3" descr="stress_strain_curve"/>
          <p:cNvPicPr>
            <a:picLocks noChangeAspect="1"/>
          </p:cNvPicPr>
          <p:nvPr/>
        </p:nvPicPr>
        <p:blipFill>
          <a:blip r:embed="rId1"/>
          <a:stretch>
            <a:fillRect/>
          </a:stretch>
        </p:blipFill>
        <p:spPr>
          <a:xfrm>
            <a:off x="570230" y="856615"/>
            <a:ext cx="10163175" cy="52317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EC28E-4BEC-434E-A174-17C0E8C4B2B2}" type="slidenum">
              <a:rPr lang="en-US" smtClean="0"/>
            </a:fld>
            <a:endParaRPr lang="en-US" dirty="0"/>
          </a:p>
        </p:txBody>
      </p:sp>
      <p:sp>
        <p:nvSpPr>
          <p:cNvPr id="3" name="TextBox 2"/>
          <p:cNvSpPr txBox="1"/>
          <p:nvPr/>
        </p:nvSpPr>
        <p:spPr>
          <a:xfrm>
            <a:off x="475313" y="102638"/>
            <a:ext cx="2040943" cy="584775"/>
          </a:xfrm>
          <a:prstGeom prst="rect">
            <a:avLst/>
          </a:prstGeom>
          <a:noFill/>
        </p:spPr>
        <p:txBody>
          <a:bodyPr wrap="none" rtlCol="0">
            <a:spAutoFit/>
          </a:bodyPr>
          <a:lstStyle/>
          <a:p>
            <a:r>
              <a:rPr lang="en-US" sz="3200" b="1" dirty="0">
                <a:solidFill>
                  <a:srgbClr val="FF0000"/>
                </a:solidFill>
              </a:rPr>
              <a:t>Conclusion</a:t>
            </a:r>
            <a:endParaRPr lang="en-US" sz="3200" b="1" dirty="0">
              <a:solidFill>
                <a:srgbClr val="FF0000"/>
              </a:solidFill>
            </a:endParaRPr>
          </a:p>
        </p:txBody>
      </p:sp>
      <p:sp>
        <p:nvSpPr>
          <p:cNvPr id="5" name="Text Box 4"/>
          <p:cNvSpPr txBox="1"/>
          <p:nvPr/>
        </p:nvSpPr>
        <p:spPr>
          <a:xfrm>
            <a:off x="402590" y="1438275"/>
            <a:ext cx="9674860" cy="3611880"/>
          </a:xfrm>
          <a:prstGeom prst="rect">
            <a:avLst/>
          </a:prstGeom>
        </p:spPr>
        <p:txBody>
          <a:bodyPr wrap="square">
            <a:noAutofit/>
          </a:bodyPr>
          <a:p>
            <a:pPr marL="0" indent="0">
              <a:spcBef>
                <a:spcPct val="0"/>
              </a:spcBef>
              <a:spcAft>
                <a:spcPct val="0"/>
              </a:spcAft>
              <a:buFont typeface="Arial" panose="020B0604020202020204"/>
              <a:buChar char="•"/>
            </a:pPr>
            <a:r>
              <a:rPr sz="2400" b="0" i="0">
                <a:solidFill>
                  <a:srgbClr val="0F1115"/>
                </a:solidFill>
                <a:latin typeface="quote-cjk-patch"/>
                <a:ea typeface="quote-cjk-patch"/>
              </a:rPr>
              <a:t>ML Models successfully predict mechanical properties of FeAg₃ alloys</a:t>
            </a:r>
            <a:endParaRPr sz="2400" b="0" i="0">
              <a:solidFill>
                <a:srgbClr val="0F1115"/>
              </a:solidFill>
              <a:latin typeface="quote-cjk-patch"/>
              <a:ea typeface="quote-cjk-patch"/>
            </a:endParaRPr>
          </a:p>
          <a:p>
            <a:pPr marL="0" indent="0">
              <a:spcBef>
                <a:spcPct val="0"/>
              </a:spcBef>
              <a:spcAft>
                <a:spcPct val="0"/>
              </a:spcAft>
              <a:buFont typeface="Arial" panose="020B0604020202020204"/>
              <a:buChar char="•"/>
            </a:pPr>
            <a:r>
              <a:rPr sz="2400" b="0" i="0">
                <a:solidFill>
                  <a:srgbClr val="0F1115"/>
                </a:solidFill>
                <a:latin typeface="quote-cjk-patch"/>
                <a:ea typeface="quote-cjk-patch"/>
              </a:rPr>
              <a:t>Key mechanical properties accurately predicted with good R² scores</a:t>
            </a:r>
            <a:endParaRPr sz="2400" b="0" i="0">
              <a:solidFill>
                <a:srgbClr val="0F1115"/>
              </a:solidFill>
              <a:latin typeface="quote-cjk-patch"/>
              <a:ea typeface="quote-cjk-patch"/>
            </a:endParaRPr>
          </a:p>
          <a:p>
            <a:pPr marL="0" indent="0">
              <a:spcBef>
                <a:spcPct val="0"/>
              </a:spcBef>
              <a:spcAft>
                <a:spcPct val="0"/>
              </a:spcAft>
              <a:buFont typeface="Arial" panose="020B0604020202020204"/>
              <a:buChar char="•"/>
            </a:pPr>
            <a:r>
              <a:rPr sz="2400" b="0" i="0">
                <a:solidFill>
                  <a:srgbClr val="0F1115"/>
                </a:solidFill>
                <a:latin typeface="quote-cjk-patch"/>
                <a:ea typeface="quote-cjk-patch"/>
              </a:rPr>
              <a:t>MD-generated training data provides reliable foundation for ML models</a:t>
            </a:r>
            <a:endParaRPr sz="2400" b="0" i="0">
              <a:solidFill>
                <a:srgbClr val="0F1115"/>
              </a:solidFill>
              <a:latin typeface="quote-cjk-patch"/>
              <a:ea typeface="quote-cjk-patch"/>
            </a:endParaRPr>
          </a:p>
          <a:p>
            <a:pPr marL="0" indent="0">
              <a:spcBef>
                <a:spcPct val="0"/>
              </a:spcBef>
              <a:spcAft>
                <a:spcPct val="0"/>
              </a:spcAft>
              <a:buFont typeface="Arial" panose="020B0604020202020204"/>
              <a:buChar char="•"/>
            </a:pPr>
            <a:r>
              <a:rPr sz="2400" b="0" i="0">
                <a:solidFill>
                  <a:srgbClr val="0F1115"/>
                </a:solidFill>
                <a:latin typeface="quote-cjk-patch"/>
                <a:ea typeface="quote-cjk-patch"/>
              </a:rPr>
              <a:t>Best performing model identified – Random Forest</a:t>
            </a:r>
            <a:endParaRPr sz="2400" b="0" i="0">
              <a:solidFill>
                <a:srgbClr val="0F1115"/>
              </a:solidFill>
              <a:latin typeface="quote-cjk-patch"/>
              <a:ea typeface="quote-cjk-patch"/>
            </a:endParaRPr>
          </a:p>
          <a:p>
            <a:pPr marL="0" indent="0">
              <a:spcBef>
                <a:spcPts val="800"/>
              </a:spcBef>
              <a:spcAft>
                <a:spcPct val="0"/>
              </a:spcAft>
            </a:pPr>
            <a:r>
              <a:rPr sz="2400" b="0" i="0">
                <a:solidFill>
                  <a:srgbClr val="0F1115"/>
                </a:solidFill>
                <a:latin typeface="quote-cjk-patch"/>
                <a:ea typeface="quote-cjk-patch"/>
              </a:rPr>
              <a:t>"Computational pipeline enables rapid FeAg₃ property prediction"</a:t>
            </a:r>
            <a:endParaRPr sz="2400" b="0" i="0">
              <a:solidFill>
                <a:srgbClr val="0F1115"/>
              </a:solidFill>
              <a:latin typeface="quote-cjk-patch"/>
              <a:ea typeface="quote-cjk-patch"/>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EC28E-4BEC-434E-A174-17C0E8C4B2B2}" type="slidenum">
              <a:rPr lang="en-US" smtClean="0"/>
            </a:fld>
            <a:endParaRPr lang="en-US" dirty="0"/>
          </a:p>
        </p:txBody>
      </p:sp>
      <p:sp>
        <p:nvSpPr>
          <p:cNvPr id="3" name="Rectangle 2"/>
          <p:cNvSpPr/>
          <p:nvPr/>
        </p:nvSpPr>
        <p:spPr>
          <a:xfrm>
            <a:off x="4280632" y="2967335"/>
            <a:ext cx="3630738"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solidFill>
                  <a:schemeClr val="accent3"/>
                </a:solidFill>
                <a:effectLst/>
              </a:rPr>
              <a:t>THANK YOU</a:t>
            </a:r>
            <a:endParaRPr lang="en-US" sz="5400" b="1" cap="none" spc="0" dirty="0">
              <a:solidFill>
                <a:schemeClr val="accent3"/>
              </a:solidFill>
              <a:effectLst/>
            </a:endParaRPr>
          </a:p>
        </p:txBody>
      </p:sp>
    </p:spTree>
  </p:cSld>
  <p:clrMapOvr>
    <a:masterClrMapping/>
  </p:clrMapOvr>
</p:sld>
</file>

<file path=ppt/tags/tag1.xml><?xml version="1.0" encoding="utf-8"?>
<p:tagLst xmlns:p="http://schemas.openxmlformats.org/presentationml/2006/main">
  <p:tag name="TABLE_ENDDRAG_ORIGIN_RECT" val="825*355"/>
  <p:tag name="TABLE_ENDDRAG_RECT" val="60*102*825*35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4540</Words>
  <Application>WPS Presentation</Application>
  <PresentationFormat>Widescreen</PresentationFormat>
  <Paragraphs>219</Paragraphs>
  <Slides>17</Slides>
  <Notes>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17</vt:i4>
      </vt:variant>
    </vt:vector>
  </HeadingPairs>
  <TitlesOfParts>
    <vt:vector size="35" baseType="lpstr">
      <vt:lpstr>Arial</vt:lpstr>
      <vt:lpstr>SimSun</vt:lpstr>
      <vt:lpstr>Wingdings</vt:lpstr>
      <vt:lpstr>Calibri</vt:lpstr>
      <vt:lpstr>Google Sans Text</vt:lpstr>
      <vt:lpstr>Segoe Print</vt:lpstr>
      <vt:lpstr>Cambria Math</vt:lpstr>
      <vt:lpstr>quote-cjk-patch</vt:lpstr>
      <vt:lpstr>Source Sans 3</vt:lpstr>
      <vt:lpstr>Source Sans 3</vt:lpstr>
      <vt:lpstr>Nunito</vt:lpstr>
      <vt:lpstr>Roboto</vt:lpstr>
      <vt:lpstr>Times New Roman</vt:lpstr>
      <vt:lpstr>Microsoft YaHei</vt:lpstr>
      <vt:lpstr>Arial Unicode MS</vt:lpstr>
      <vt:lpstr>Calibri Light</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Vijay Choyal</dc:creator>
  <cp:lastModifiedBy>KOMMU DANIEL RICH</cp:lastModifiedBy>
  <cp:revision>25</cp:revision>
  <dcterms:created xsi:type="dcterms:W3CDTF">2023-04-12T16:28:00Z</dcterms:created>
  <dcterms:modified xsi:type="dcterms:W3CDTF">2025-11-02T08:58:40Z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8837C942A6D448CDAA4B00A2355A8630_13</vt:lpwstr>
  </property>
  <property fmtid="{D5CDD505-2E9C-101B-9397-08002B2CF9AE}" pid="3" name="KSOProductBuildVer">
    <vt:lpwstr>1033-12.2.0.23131</vt:lpwstr>
  </property>
</Properties>
</file>